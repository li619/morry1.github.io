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9"/>
  </p:notesMasterIdLst>
  <p:sldIdLst>
    <p:sldId id="317" r:id="rId2"/>
    <p:sldId id="318" r:id="rId3"/>
    <p:sldId id="320" r:id="rId4"/>
    <p:sldId id="323" r:id="rId5"/>
    <p:sldId id="324" r:id="rId6"/>
    <p:sldId id="322" r:id="rId7"/>
    <p:sldId id="325" r:id="rId8"/>
    <p:sldId id="326" r:id="rId9"/>
    <p:sldId id="328" r:id="rId10"/>
    <p:sldId id="329" r:id="rId11"/>
    <p:sldId id="331" r:id="rId12"/>
    <p:sldId id="333" r:id="rId13"/>
    <p:sldId id="330" r:id="rId14"/>
    <p:sldId id="332" r:id="rId15"/>
    <p:sldId id="327" r:id="rId16"/>
    <p:sldId id="334" r:id="rId17"/>
    <p:sldId id="335" r:id="rId18"/>
    <p:sldId id="336" r:id="rId19"/>
    <p:sldId id="337" r:id="rId20"/>
    <p:sldId id="338" r:id="rId21"/>
    <p:sldId id="339" r:id="rId22"/>
    <p:sldId id="340" r:id="rId23"/>
    <p:sldId id="342" r:id="rId24"/>
    <p:sldId id="341" r:id="rId25"/>
    <p:sldId id="344" r:id="rId26"/>
    <p:sldId id="345" r:id="rId27"/>
    <p:sldId id="346" r:id="rId28"/>
    <p:sldId id="348" r:id="rId29"/>
    <p:sldId id="354" r:id="rId30"/>
    <p:sldId id="349" r:id="rId31"/>
    <p:sldId id="350" r:id="rId32"/>
    <p:sldId id="352" r:id="rId33"/>
    <p:sldId id="351" r:id="rId34"/>
    <p:sldId id="353" r:id="rId35"/>
    <p:sldId id="355" r:id="rId36"/>
    <p:sldId id="356" r:id="rId37"/>
    <p:sldId id="347" r:id="rId3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5726" autoAdjust="0"/>
  </p:normalViewPr>
  <p:slideViewPr>
    <p:cSldViewPr snapToGrid="0">
      <p:cViewPr varScale="1">
        <p:scale>
          <a:sx n="75" d="100"/>
          <a:sy n="75" d="100"/>
        </p:scale>
        <p:origin x="48" y="5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05D4827-D199-46FE-87A6-A824730A191E}" type="datetimeFigureOut">
              <a:rPr lang="zh-CN" altLang="en-US" smtClean="0"/>
              <a:t>2024/9/19</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E1C576-AF50-43C4-973D-4FA3D6D10B32}" type="slidenum">
              <a:rPr lang="zh-CN" altLang="en-US" smtClean="0"/>
              <a:t>‹#›</a:t>
            </a:fld>
            <a:endParaRPr lang="zh-CN" altLang="en-US"/>
          </a:p>
        </p:txBody>
      </p:sp>
    </p:spTree>
    <p:extLst>
      <p:ext uri="{BB962C8B-B14F-4D97-AF65-F5344CB8AC3E}">
        <p14:creationId xmlns:p14="http://schemas.microsoft.com/office/powerpoint/2010/main" val="35292669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zh-CN" altLang="en-US"/>
              <a:t>单击此处编辑母版标题样式</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A21680E9-6856-4A3E-9251-D2B9FDF7385B}" type="datetimeFigureOut">
              <a:rPr lang="zh-CN" altLang="en-US" smtClean="0"/>
              <a:t>2024/9/19</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683EA551-5CF7-464F-A75D-87CFB8314AEB}" type="slidenum">
              <a:rPr lang="zh-CN" altLang="en-US" smtClean="0"/>
              <a:t>‹#›</a:t>
            </a:fld>
            <a:endParaRPr lang="zh-CN" alt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413047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A21680E9-6856-4A3E-9251-D2B9FDF7385B}" type="datetimeFigureOut">
              <a:rPr lang="zh-CN" altLang="en-US" smtClean="0"/>
              <a:t>2024/9/19</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683EA551-5CF7-464F-A75D-87CFB8314AEB}" type="slidenum">
              <a:rPr lang="zh-CN" altLang="en-US" smtClean="0"/>
              <a:t>‹#›</a:t>
            </a:fld>
            <a:endParaRPr lang="zh-CN" altLang="en-US"/>
          </a:p>
        </p:txBody>
      </p:sp>
    </p:spTree>
    <p:extLst>
      <p:ext uri="{BB962C8B-B14F-4D97-AF65-F5344CB8AC3E}">
        <p14:creationId xmlns:p14="http://schemas.microsoft.com/office/powerpoint/2010/main" val="37322991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节标题">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zh-CN" altLang="en-US"/>
              <a:t>单击此处编辑母版标题样式</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A21680E9-6856-4A3E-9251-D2B9FDF7385B}" type="datetimeFigureOut">
              <a:rPr lang="zh-CN" altLang="en-US" smtClean="0"/>
              <a:t>2024/9/19</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683EA551-5CF7-464F-A75D-87CFB8314AEB}" type="slidenum">
              <a:rPr lang="zh-CN" altLang="en-US" smtClean="0"/>
              <a:t>‹#›</a:t>
            </a:fld>
            <a:endParaRPr lang="zh-CN" alt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671226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Date Placeholder 4"/>
          <p:cNvSpPr>
            <a:spLocks noGrp="1"/>
          </p:cNvSpPr>
          <p:nvPr>
            <p:ph type="dt" sz="half" idx="10"/>
          </p:nvPr>
        </p:nvSpPr>
        <p:spPr/>
        <p:txBody>
          <a:bodyPr/>
          <a:lstStyle/>
          <a:p>
            <a:fld id="{A21680E9-6856-4A3E-9251-D2B9FDF7385B}" type="datetimeFigureOut">
              <a:rPr lang="zh-CN" altLang="en-US" smtClean="0"/>
              <a:t>2024/9/19</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683EA551-5CF7-464F-A75D-87CFB8314AEB}" type="slidenum">
              <a:rPr lang="zh-CN" altLang="en-US" smtClean="0"/>
              <a:t>‹#›</a:t>
            </a:fld>
            <a:endParaRPr lang="zh-CN" altLang="en-US"/>
          </a:p>
        </p:txBody>
      </p:sp>
    </p:spTree>
    <p:extLst>
      <p:ext uri="{BB962C8B-B14F-4D97-AF65-F5344CB8AC3E}">
        <p14:creationId xmlns:p14="http://schemas.microsoft.com/office/powerpoint/2010/main" val="23784052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1097280" y="2582334"/>
            <a:ext cx="4937760" cy="337820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6217920" y="2582334"/>
            <a:ext cx="4937760" cy="337820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6"/>
          <p:cNvSpPr>
            <a:spLocks noGrp="1"/>
          </p:cNvSpPr>
          <p:nvPr>
            <p:ph type="dt" sz="half" idx="10"/>
          </p:nvPr>
        </p:nvSpPr>
        <p:spPr/>
        <p:txBody>
          <a:bodyPr/>
          <a:lstStyle/>
          <a:p>
            <a:fld id="{A21680E9-6856-4A3E-9251-D2B9FDF7385B}" type="datetimeFigureOut">
              <a:rPr lang="zh-CN" altLang="en-US" smtClean="0"/>
              <a:t>2024/9/19</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683EA551-5CF7-464F-A75D-87CFB8314AEB}" type="slidenum">
              <a:rPr lang="zh-CN" altLang="en-US" smtClean="0"/>
              <a:t>‹#›</a:t>
            </a:fld>
            <a:endParaRPr lang="zh-CN" altLang="en-US"/>
          </a:p>
        </p:txBody>
      </p:sp>
    </p:spTree>
    <p:extLst>
      <p:ext uri="{BB962C8B-B14F-4D97-AF65-F5344CB8AC3E}">
        <p14:creationId xmlns:p14="http://schemas.microsoft.com/office/powerpoint/2010/main" val="36500649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A21680E9-6856-4A3E-9251-D2B9FDF7385B}" type="datetimeFigureOut">
              <a:rPr lang="zh-CN" altLang="en-US" smtClean="0"/>
              <a:t>2024/9/19</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683EA551-5CF7-464F-A75D-87CFB8314AEB}" type="slidenum">
              <a:rPr lang="zh-CN" altLang="en-US" smtClean="0"/>
              <a:t>‹#›</a:t>
            </a:fld>
            <a:endParaRPr lang="zh-CN" altLang="en-US"/>
          </a:p>
        </p:txBody>
      </p:sp>
    </p:spTree>
    <p:extLst>
      <p:ext uri="{BB962C8B-B14F-4D97-AF65-F5344CB8AC3E}">
        <p14:creationId xmlns:p14="http://schemas.microsoft.com/office/powerpoint/2010/main" val="24145676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A21680E9-6856-4A3E-9251-D2B9FDF7385B}" type="datetimeFigureOut">
              <a:rPr lang="zh-CN" altLang="en-US" smtClean="0"/>
              <a:t>2024/9/19</a:t>
            </a:fld>
            <a:endParaRPr lang="zh-CN" alt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zh-CN" altLang="en-US"/>
          </a:p>
        </p:txBody>
      </p:sp>
      <p:sp>
        <p:nvSpPr>
          <p:cNvPr id="9" name="Slide Number Placeholder 8"/>
          <p:cNvSpPr>
            <a:spLocks noGrp="1"/>
          </p:cNvSpPr>
          <p:nvPr>
            <p:ph type="sldNum" sz="quarter" idx="12"/>
          </p:nvPr>
        </p:nvSpPr>
        <p:spPr/>
        <p:txBody>
          <a:bodyPr/>
          <a:lstStyle/>
          <a:p>
            <a:fld id="{683EA551-5CF7-464F-A75D-87CFB8314AEB}" type="slidenum">
              <a:rPr lang="zh-CN" altLang="en-US" smtClean="0"/>
              <a:t>‹#›</a:t>
            </a:fld>
            <a:endParaRPr lang="zh-CN" altLang="en-US"/>
          </a:p>
        </p:txBody>
      </p:sp>
    </p:spTree>
    <p:extLst>
      <p:ext uri="{BB962C8B-B14F-4D97-AF65-F5344CB8AC3E}">
        <p14:creationId xmlns:p14="http://schemas.microsoft.com/office/powerpoint/2010/main" val="26208048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内容与标题">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zh-CN" altLang="en-US"/>
              <a:t>单击此处编辑母版标题样式</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A21680E9-6856-4A3E-9251-D2B9FDF7385B}" type="datetimeFigureOut">
              <a:rPr lang="zh-CN" altLang="en-US" smtClean="0"/>
              <a:t>2024/9/19</a:t>
            </a:fld>
            <a:endParaRPr lang="zh-CN" alt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zh-CN" alt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683EA551-5CF7-464F-A75D-87CFB8314AEB}" type="slidenum">
              <a:rPr lang="zh-CN" altLang="en-US" smtClean="0"/>
              <a:t>‹#›</a:t>
            </a:fld>
            <a:endParaRPr lang="zh-CN" altLang="en-US"/>
          </a:p>
        </p:txBody>
      </p:sp>
    </p:spTree>
    <p:extLst>
      <p:ext uri="{BB962C8B-B14F-4D97-AF65-F5344CB8AC3E}">
        <p14:creationId xmlns:p14="http://schemas.microsoft.com/office/powerpoint/2010/main" val="31812512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A21680E9-6856-4A3E-9251-D2B9FDF7385B}" type="datetimeFigureOut">
              <a:rPr lang="zh-CN" altLang="en-US" smtClean="0"/>
              <a:t>2024/9/19</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683EA551-5CF7-464F-A75D-87CFB8314AEB}" type="slidenum">
              <a:rPr lang="zh-CN" altLang="en-US" smtClean="0"/>
              <a:t>‹#›</a:t>
            </a:fld>
            <a:endParaRPr lang="zh-CN" altLang="en-US"/>
          </a:p>
        </p:txBody>
      </p:sp>
    </p:spTree>
    <p:extLst>
      <p:ext uri="{BB962C8B-B14F-4D97-AF65-F5344CB8AC3E}">
        <p14:creationId xmlns:p14="http://schemas.microsoft.com/office/powerpoint/2010/main" val="31164517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A21680E9-6856-4A3E-9251-D2B9FDF7385B}" type="datetimeFigureOut">
              <a:rPr lang="zh-CN" altLang="en-US" smtClean="0"/>
              <a:t>2024/9/19</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683EA551-5CF7-464F-A75D-87CFB8314AEB}" type="slidenum">
              <a:rPr lang="zh-CN" altLang="en-US" smtClean="0"/>
              <a:t>‹#›</a:t>
            </a:fld>
            <a:endParaRPr lang="zh-CN" altLang="en-US"/>
          </a:p>
        </p:txBody>
      </p:sp>
    </p:spTree>
    <p:extLst>
      <p:ext uri="{BB962C8B-B14F-4D97-AF65-F5344CB8AC3E}">
        <p14:creationId xmlns:p14="http://schemas.microsoft.com/office/powerpoint/2010/main" val="7408104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竖排标题与文本">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A21680E9-6856-4A3E-9251-D2B9FDF7385B}" type="datetimeFigureOut">
              <a:rPr lang="zh-CN" altLang="en-US" smtClean="0"/>
              <a:t>2024/9/19</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683EA551-5CF7-464F-A75D-87CFB8314AEB}" type="slidenum">
              <a:rPr lang="zh-CN" altLang="en-US" smtClean="0"/>
              <a:t>‹#›</a:t>
            </a:fld>
            <a:endParaRPr lang="zh-CN" altLang="en-US"/>
          </a:p>
        </p:txBody>
      </p:sp>
    </p:spTree>
    <p:extLst>
      <p:ext uri="{BB962C8B-B14F-4D97-AF65-F5344CB8AC3E}">
        <p14:creationId xmlns:p14="http://schemas.microsoft.com/office/powerpoint/2010/main" val="2251330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A21680E9-6856-4A3E-9251-D2B9FDF7385B}" type="datetimeFigureOut">
              <a:rPr lang="zh-CN" altLang="en-US" smtClean="0"/>
              <a:t>2024/9/19</a:t>
            </a:fld>
            <a:endParaRPr lang="zh-CN" alt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zh-CN" alt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683EA551-5CF7-464F-A75D-87CFB8314AEB}" type="slidenum">
              <a:rPr lang="zh-CN" altLang="en-US" smtClean="0"/>
              <a:t>‹#›</a:t>
            </a:fld>
            <a:endParaRPr lang="zh-CN" alt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0594656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0E7D153-13AA-1BE7-6B02-2AAE46C9FB6F}"/>
              </a:ext>
            </a:extLst>
          </p:cNvPr>
          <p:cNvSpPr>
            <a:spLocks noGrp="1"/>
          </p:cNvSpPr>
          <p:nvPr>
            <p:ph type="title"/>
          </p:nvPr>
        </p:nvSpPr>
        <p:spPr/>
        <p:txBody>
          <a:bodyPr/>
          <a:lstStyle/>
          <a:p>
            <a:r>
              <a:rPr lang="en-US" altLang="zh-CN" sz="8000" dirty="0"/>
              <a:t>JavaScript </a:t>
            </a:r>
            <a:r>
              <a:rPr lang="zh-CN" altLang="en-US" sz="8000" dirty="0"/>
              <a:t>异步编程</a:t>
            </a:r>
            <a:endParaRPr lang="zh-CN" altLang="en-US" dirty="0"/>
          </a:p>
        </p:txBody>
      </p:sp>
      <p:sp>
        <p:nvSpPr>
          <p:cNvPr id="5" name="Text Placeholder 4">
            <a:extLst>
              <a:ext uri="{FF2B5EF4-FFF2-40B4-BE49-F238E27FC236}">
                <a16:creationId xmlns:a16="http://schemas.microsoft.com/office/drawing/2014/main" id="{369D5D90-4E35-C998-91F4-0714AA37324F}"/>
              </a:ext>
            </a:extLst>
          </p:cNvPr>
          <p:cNvSpPr>
            <a:spLocks noGrp="1"/>
          </p:cNvSpPr>
          <p:nvPr>
            <p:ph type="body" idx="1"/>
          </p:nvPr>
        </p:nvSpPr>
        <p:spPr/>
        <p:txBody>
          <a:bodyPr/>
          <a:lstStyle/>
          <a:p>
            <a:pPr algn="r"/>
            <a:r>
              <a:rPr lang="zh-CN" altLang="en-US" dirty="0"/>
              <a:t>南华大学 朱涛</a:t>
            </a:r>
          </a:p>
        </p:txBody>
      </p:sp>
    </p:spTree>
    <p:extLst>
      <p:ext uri="{BB962C8B-B14F-4D97-AF65-F5344CB8AC3E}">
        <p14:creationId xmlns:p14="http://schemas.microsoft.com/office/powerpoint/2010/main" val="39587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3DEEEBB-4264-B3D7-DFF9-381343EF382C}"/>
              </a:ext>
            </a:extLst>
          </p:cNvPr>
          <p:cNvPicPr>
            <a:picLocks noChangeAspect="1"/>
          </p:cNvPicPr>
          <p:nvPr/>
        </p:nvPicPr>
        <p:blipFill>
          <a:blip r:embed="rId2"/>
          <a:stretch>
            <a:fillRect/>
          </a:stretch>
        </p:blipFill>
        <p:spPr>
          <a:xfrm>
            <a:off x="497381" y="590396"/>
            <a:ext cx="11197238" cy="4469284"/>
          </a:xfrm>
          <a:prstGeom prst="rect">
            <a:avLst/>
          </a:prstGeom>
        </p:spPr>
      </p:pic>
    </p:spTree>
    <p:extLst>
      <p:ext uri="{BB962C8B-B14F-4D97-AF65-F5344CB8AC3E}">
        <p14:creationId xmlns:p14="http://schemas.microsoft.com/office/powerpoint/2010/main" val="2085440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208DDB-EEA8-0D92-7013-DA5E50634268}"/>
              </a:ext>
            </a:extLst>
          </p:cNvPr>
          <p:cNvSpPr>
            <a:spLocks noGrp="1"/>
          </p:cNvSpPr>
          <p:nvPr>
            <p:ph type="title" idx="4294967295"/>
          </p:nvPr>
        </p:nvSpPr>
        <p:spPr>
          <a:xfrm>
            <a:off x="436880" y="255587"/>
            <a:ext cx="7985760" cy="699454"/>
          </a:xfrm>
        </p:spPr>
        <p:txBody>
          <a:bodyPr>
            <a:normAutofit/>
          </a:bodyPr>
          <a:lstStyle/>
          <a:p>
            <a:r>
              <a:rPr lang="zh-CN" altLang="en-US" sz="4000" dirty="0"/>
              <a:t>同步与异步</a:t>
            </a:r>
          </a:p>
        </p:txBody>
      </p:sp>
      <p:sp>
        <p:nvSpPr>
          <p:cNvPr id="3" name="Content Placeholder 2">
            <a:extLst>
              <a:ext uri="{FF2B5EF4-FFF2-40B4-BE49-F238E27FC236}">
                <a16:creationId xmlns:a16="http://schemas.microsoft.com/office/drawing/2014/main" id="{0C8D150A-D8DF-C00B-0E12-774E08069810}"/>
              </a:ext>
            </a:extLst>
          </p:cNvPr>
          <p:cNvSpPr>
            <a:spLocks noGrp="1"/>
          </p:cNvSpPr>
          <p:nvPr>
            <p:ph idx="4294967295"/>
          </p:nvPr>
        </p:nvSpPr>
        <p:spPr>
          <a:xfrm>
            <a:off x="436880" y="1087120"/>
            <a:ext cx="11470640" cy="5100003"/>
          </a:xfrm>
        </p:spPr>
        <p:txBody>
          <a:bodyPr>
            <a:normAutofit/>
          </a:bodyPr>
          <a:lstStyle/>
          <a:p>
            <a:pPr algn="l">
              <a:buFont typeface="Arial" panose="020B0604020202020204" pitchFamily="34" charset="0"/>
              <a:buChar char="•"/>
            </a:pPr>
            <a:r>
              <a:rPr lang="zh-CN" altLang="en-US" sz="2800" b="1" i="0" dirty="0">
                <a:solidFill>
                  <a:srgbClr val="24292F"/>
                </a:solidFill>
                <a:effectLst/>
                <a:latin typeface="Noto Sans SC"/>
              </a:rPr>
              <a:t> 同步编程：</a:t>
            </a:r>
            <a:r>
              <a:rPr lang="zh-CN" altLang="en-US" sz="2800" b="0" i="0" dirty="0">
                <a:solidFill>
                  <a:srgbClr val="24292F"/>
                </a:solidFill>
                <a:effectLst/>
                <a:latin typeface="Noto Sans SC"/>
              </a:rPr>
              <a:t>任务按顺序执行，当前任务完成后才会开始下一个任务。</a:t>
            </a:r>
          </a:p>
          <a:p>
            <a:pPr marL="742950" lvl="1" indent="-285750">
              <a:buFont typeface="Arial" panose="020B0604020202020204" pitchFamily="34" charset="0"/>
              <a:buChar char="•"/>
            </a:pPr>
            <a:r>
              <a:rPr lang="zh-CN" altLang="en-US" sz="2800" b="0" i="0" dirty="0">
                <a:solidFill>
                  <a:srgbClr val="24292F"/>
                </a:solidFill>
                <a:effectLst/>
                <a:latin typeface="Noto Sans SC"/>
              </a:rPr>
              <a:t>简单直观，易于理解。</a:t>
            </a:r>
          </a:p>
          <a:p>
            <a:pPr marL="742950" lvl="1" indent="-285750">
              <a:buFont typeface="Arial" panose="020B0604020202020204" pitchFamily="34" charset="0"/>
              <a:buChar char="•"/>
            </a:pPr>
            <a:r>
              <a:rPr lang="zh-CN" altLang="en-US" sz="2800" b="0" i="0" dirty="0">
                <a:solidFill>
                  <a:srgbClr val="24292F"/>
                </a:solidFill>
                <a:effectLst/>
                <a:latin typeface="Noto Sans SC"/>
              </a:rPr>
              <a:t>阻塞式：一个任务必须等待前一个任务完成才能开始。</a:t>
            </a:r>
          </a:p>
          <a:p>
            <a:pPr marL="742950" lvl="1" indent="-285750">
              <a:buFont typeface="Arial" panose="020B0604020202020204" pitchFamily="34" charset="0"/>
              <a:buChar char="•"/>
            </a:pPr>
            <a:r>
              <a:rPr lang="zh-CN" altLang="en-US" sz="2800" b="0" i="0" dirty="0">
                <a:solidFill>
                  <a:srgbClr val="24292F"/>
                </a:solidFill>
                <a:effectLst/>
                <a:latin typeface="Noto Sans SC"/>
              </a:rPr>
              <a:t>适合处理简单的、顺序的操作。</a:t>
            </a:r>
            <a:endParaRPr lang="en-US" altLang="zh-CN" sz="2800" b="0" i="0" dirty="0">
              <a:solidFill>
                <a:srgbClr val="24292F"/>
              </a:solidFill>
              <a:effectLst/>
              <a:latin typeface="Noto Sans SC"/>
            </a:endParaRPr>
          </a:p>
          <a:p>
            <a:pPr marL="457200" lvl="1" indent="0">
              <a:buNone/>
            </a:pPr>
            <a:endParaRPr lang="zh-CN" altLang="en-US" sz="2800" b="0" i="0" dirty="0">
              <a:solidFill>
                <a:srgbClr val="24292F"/>
              </a:solidFill>
              <a:effectLst/>
              <a:latin typeface="Noto Sans SC"/>
            </a:endParaRPr>
          </a:p>
          <a:p>
            <a:pPr algn="l">
              <a:buFont typeface="Arial" panose="020B0604020202020204" pitchFamily="34" charset="0"/>
              <a:buChar char="•"/>
            </a:pPr>
            <a:r>
              <a:rPr lang="zh-CN" altLang="en-US" sz="2800" b="1" i="0" dirty="0">
                <a:solidFill>
                  <a:srgbClr val="24292F"/>
                </a:solidFill>
                <a:effectLst/>
                <a:latin typeface="Noto Sans SC"/>
              </a:rPr>
              <a:t> 异步编程：</a:t>
            </a:r>
            <a:r>
              <a:rPr lang="zh-CN" altLang="en-US" sz="2800" b="0" i="0" dirty="0">
                <a:solidFill>
                  <a:srgbClr val="24292F"/>
                </a:solidFill>
                <a:effectLst/>
                <a:latin typeface="Noto Sans SC"/>
              </a:rPr>
              <a:t>任务可以并发执行，当前任务不必等待前一个任务完成就可以继续执行其他任务。</a:t>
            </a:r>
          </a:p>
          <a:p>
            <a:pPr marL="742950" lvl="1" indent="-285750">
              <a:buFont typeface="Arial" panose="020B0604020202020204" pitchFamily="34" charset="0"/>
              <a:buChar char="•"/>
            </a:pPr>
            <a:r>
              <a:rPr lang="zh-CN" altLang="en-US" sz="2800" b="0" i="0" dirty="0">
                <a:solidFill>
                  <a:srgbClr val="24292F"/>
                </a:solidFill>
                <a:effectLst/>
                <a:latin typeface="Noto Sans SC"/>
              </a:rPr>
              <a:t>非阻塞式：任务可以在等待期间继续执行其他操作。</a:t>
            </a:r>
          </a:p>
          <a:p>
            <a:pPr marL="742950" lvl="1" indent="-285750">
              <a:buFont typeface="Arial" panose="020B0604020202020204" pitchFamily="34" charset="0"/>
              <a:buChar char="•"/>
            </a:pPr>
            <a:r>
              <a:rPr lang="zh-CN" altLang="en-US" sz="2800" b="0" i="0" dirty="0">
                <a:solidFill>
                  <a:srgbClr val="24292F"/>
                </a:solidFill>
                <a:effectLst/>
                <a:latin typeface="Noto Sans SC"/>
              </a:rPr>
              <a:t>更高的效率，特别适合</a:t>
            </a:r>
            <a:r>
              <a:rPr lang="en-US" altLang="zh-CN" sz="2800" b="0" i="0" dirty="0">
                <a:solidFill>
                  <a:srgbClr val="24292F"/>
                </a:solidFill>
                <a:effectLst/>
                <a:latin typeface="Noto Sans SC"/>
              </a:rPr>
              <a:t>I/O</a:t>
            </a:r>
            <a:r>
              <a:rPr lang="zh-CN" altLang="en-US" sz="2800" b="0" i="0" dirty="0">
                <a:solidFill>
                  <a:srgbClr val="24292F"/>
                </a:solidFill>
                <a:effectLst/>
                <a:latin typeface="Noto Sans SC"/>
              </a:rPr>
              <a:t>密集型任务（如网络请求）。</a:t>
            </a:r>
          </a:p>
          <a:p>
            <a:pPr marL="742950" lvl="1" indent="-285750">
              <a:buFont typeface="Arial" panose="020B0604020202020204" pitchFamily="34" charset="0"/>
              <a:buChar char="•"/>
            </a:pPr>
            <a:r>
              <a:rPr lang="zh-CN" altLang="en-US" sz="2800" b="0" i="0" dirty="0">
                <a:solidFill>
                  <a:srgbClr val="24292F"/>
                </a:solidFill>
                <a:effectLst/>
                <a:latin typeface="Noto Sans SC"/>
              </a:rPr>
              <a:t>复杂性较高，代码结构可能更复杂。</a:t>
            </a:r>
          </a:p>
          <a:p>
            <a:endParaRPr lang="zh-CN" altLang="en-US" dirty="0"/>
          </a:p>
        </p:txBody>
      </p:sp>
    </p:spTree>
    <p:extLst>
      <p:ext uri="{BB962C8B-B14F-4D97-AF65-F5344CB8AC3E}">
        <p14:creationId xmlns:p14="http://schemas.microsoft.com/office/powerpoint/2010/main" val="39662093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208DDB-EEA8-0D92-7013-DA5E50634268}"/>
              </a:ext>
            </a:extLst>
          </p:cNvPr>
          <p:cNvSpPr>
            <a:spLocks noGrp="1"/>
          </p:cNvSpPr>
          <p:nvPr>
            <p:ph type="title" idx="4294967295"/>
          </p:nvPr>
        </p:nvSpPr>
        <p:spPr>
          <a:xfrm>
            <a:off x="436880" y="255587"/>
            <a:ext cx="7985760" cy="699454"/>
          </a:xfrm>
        </p:spPr>
        <p:txBody>
          <a:bodyPr>
            <a:normAutofit/>
          </a:bodyPr>
          <a:lstStyle/>
          <a:p>
            <a:r>
              <a:rPr lang="zh-CN" altLang="en-US" sz="4000" dirty="0"/>
              <a:t>同步编程</a:t>
            </a:r>
          </a:p>
        </p:txBody>
      </p:sp>
      <p:pic>
        <p:nvPicPr>
          <p:cNvPr id="5" name="Picture 4">
            <a:extLst>
              <a:ext uri="{FF2B5EF4-FFF2-40B4-BE49-F238E27FC236}">
                <a16:creationId xmlns:a16="http://schemas.microsoft.com/office/drawing/2014/main" id="{9C30A387-DC61-F9C9-0F72-87D6DD0926DB}"/>
              </a:ext>
            </a:extLst>
          </p:cNvPr>
          <p:cNvPicPr>
            <a:picLocks noChangeAspect="1"/>
          </p:cNvPicPr>
          <p:nvPr/>
        </p:nvPicPr>
        <p:blipFill>
          <a:blip r:embed="rId2"/>
          <a:stretch>
            <a:fillRect/>
          </a:stretch>
        </p:blipFill>
        <p:spPr>
          <a:xfrm>
            <a:off x="573816" y="1117468"/>
            <a:ext cx="8824183" cy="5169197"/>
          </a:xfrm>
          <a:prstGeom prst="rect">
            <a:avLst/>
          </a:prstGeom>
        </p:spPr>
      </p:pic>
    </p:spTree>
    <p:extLst>
      <p:ext uri="{BB962C8B-B14F-4D97-AF65-F5344CB8AC3E}">
        <p14:creationId xmlns:p14="http://schemas.microsoft.com/office/powerpoint/2010/main" val="21611042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208DDB-EEA8-0D92-7013-DA5E50634268}"/>
              </a:ext>
            </a:extLst>
          </p:cNvPr>
          <p:cNvSpPr>
            <a:spLocks noGrp="1"/>
          </p:cNvSpPr>
          <p:nvPr>
            <p:ph type="title" idx="4294967295"/>
          </p:nvPr>
        </p:nvSpPr>
        <p:spPr>
          <a:xfrm>
            <a:off x="436880" y="255587"/>
            <a:ext cx="7985760" cy="699454"/>
          </a:xfrm>
        </p:spPr>
        <p:txBody>
          <a:bodyPr>
            <a:normAutofit/>
          </a:bodyPr>
          <a:lstStyle/>
          <a:p>
            <a:r>
              <a:rPr lang="zh-CN" altLang="en-US" sz="4000" dirty="0"/>
              <a:t>异步编程</a:t>
            </a:r>
          </a:p>
        </p:txBody>
      </p:sp>
      <p:pic>
        <p:nvPicPr>
          <p:cNvPr id="4" name="Picture 3">
            <a:extLst>
              <a:ext uri="{FF2B5EF4-FFF2-40B4-BE49-F238E27FC236}">
                <a16:creationId xmlns:a16="http://schemas.microsoft.com/office/drawing/2014/main" id="{D78856C8-D277-7125-C9CC-C03105A17266}"/>
              </a:ext>
            </a:extLst>
          </p:cNvPr>
          <p:cNvPicPr>
            <a:picLocks noChangeAspect="1"/>
          </p:cNvPicPr>
          <p:nvPr/>
        </p:nvPicPr>
        <p:blipFill>
          <a:blip r:embed="rId2"/>
          <a:stretch>
            <a:fillRect/>
          </a:stretch>
        </p:blipFill>
        <p:spPr>
          <a:xfrm>
            <a:off x="436880" y="955041"/>
            <a:ext cx="10615811" cy="5405119"/>
          </a:xfrm>
          <a:prstGeom prst="rect">
            <a:avLst/>
          </a:prstGeom>
        </p:spPr>
      </p:pic>
    </p:spTree>
    <p:extLst>
      <p:ext uri="{BB962C8B-B14F-4D97-AF65-F5344CB8AC3E}">
        <p14:creationId xmlns:p14="http://schemas.microsoft.com/office/powerpoint/2010/main" val="40897278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208DDB-EEA8-0D92-7013-DA5E50634268}"/>
              </a:ext>
            </a:extLst>
          </p:cNvPr>
          <p:cNvSpPr>
            <a:spLocks noGrp="1"/>
          </p:cNvSpPr>
          <p:nvPr>
            <p:ph type="title" idx="4294967295"/>
          </p:nvPr>
        </p:nvSpPr>
        <p:spPr>
          <a:xfrm>
            <a:off x="436880" y="255587"/>
            <a:ext cx="7985760" cy="699454"/>
          </a:xfrm>
        </p:spPr>
        <p:txBody>
          <a:bodyPr>
            <a:normAutofit/>
          </a:bodyPr>
          <a:lstStyle/>
          <a:p>
            <a:r>
              <a:rPr lang="zh-CN" altLang="en-US" sz="4000" dirty="0"/>
              <a:t>异步函数</a:t>
            </a:r>
          </a:p>
        </p:txBody>
      </p:sp>
      <p:sp>
        <p:nvSpPr>
          <p:cNvPr id="6" name="Content Placeholder 2">
            <a:extLst>
              <a:ext uri="{FF2B5EF4-FFF2-40B4-BE49-F238E27FC236}">
                <a16:creationId xmlns:a16="http://schemas.microsoft.com/office/drawing/2014/main" id="{CDBB5233-DD74-0EA6-A3BC-A35F86AA2C31}"/>
              </a:ext>
            </a:extLst>
          </p:cNvPr>
          <p:cNvSpPr txBox="1">
            <a:spLocks/>
          </p:cNvSpPr>
          <p:nvPr/>
        </p:nvSpPr>
        <p:spPr>
          <a:xfrm>
            <a:off x="436880" y="1087120"/>
            <a:ext cx="11470640" cy="5100003"/>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br>
              <a:rPr lang="zh-CN" altLang="en-US" sz="2400" b="0" i="0" dirty="0">
                <a:solidFill>
                  <a:srgbClr val="1B1B1B"/>
                </a:solidFill>
                <a:effectLst/>
                <a:latin typeface="Inter"/>
              </a:rPr>
            </a:br>
            <a:endParaRPr lang="zh-CN" altLang="en-US" dirty="0"/>
          </a:p>
        </p:txBody>
      </p:sp>
      <p:pic>
        <p:nvPicPr>
          <p:cNvPr id="8" name="Picture 7">
            <a:extLst>
              <a:ext uri="{FF2B5EF4-FFF2-40B4-BE49-F238E27FC236}">
                <a16:creationId xmlns:a16="http://schemas.microsoft.com/office/drawing/2014/main" id="{8B994BA0-72E9-A2D3-3EFD-339AF9E13C46}"/>
              </a:ext>
            </a:extLst>
          </p:cNvPr>
          <p:cNvPicPr>
            <a:picLocks noChangeAspect="1"/>
          </p:cNvPicPr>
          <p:nvPr/>
        </p:nvPicPr>
        <p:blipFill>
          <a:blip r:embed="rId2"/>
          <a:stretch>
            <a:fillRect/>
          </a:stretch>
        </p:blipFill>
        <p:spPr>
          <a:xfrm>
            <a:off x="749028" y="1200054"/>
            <a:ext cx="11266878" cy="3961226"/>
          </a:xfrm>
          <a:prstGeom prst="rect">
            <a:avLst/>
          </a:prstGeom>
        </p:spPr>
      </p:pic>
    </p:spTree>
    <p:extLst>
      <p:ext uri="{BB962C8B-B14F-4D97-AF65-F5344CB8AC3E}">
        <p14:creationId xmlns:p14="http://schemas.microsoft.com/office/powerpoint/2010/main" val="31352365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2">
            <a:extLst>
              <a:ext uri="{FF2B5EF4-FFF2-40B4-BE49-F238E27FC236}">
                <a16:creationId xmlns:a16="http://schemas.microsoft.com/office/drawing/2014/main" id="{CDBB5233-DD74-0EA6-A3BC-A35F86AA2C31}"/>
              </a:ext>
            </a:extLst>
          </p:cNvPr>
          <p:cNvSpPr txBox="1">
            <a:spLocks/>
          </p:cNvSpPr>
          <p:nvPr/>
        </p:nvSpPr>
        <p:spPr>
          <a:xfrm>
            <a:off x="436880" y="1087120"/>
            <a:ext cx="11470640" cy="5100003"/>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br>
              <a:rPr lang="zh-CN" altLang="en-US" sz="2400" b="0" i="0" dirty="0">
                <a:solidFill>
                  <a:srgbClr val="1B1B1B"/>
                </a:solidFill>
                <a:effectLst/>
                <a:latin typeface="Inter"/>
              </a:rPr>
            </a:br>
            <a:endParaRPr lang="zh-CN" altLang="en-US" dirty="0"/>
          </a:p>
        </p:txBody>
      </p:sp>
      <p:sp>
        <p:nvSpPr>
          <p:cNvPr id="3" name="Title 1">
            <a:extLst>
              <a:ext uri="{FF2B5EF4-FFF2-40B4-BE49-F238E27FC236}">
                <a16:creationId xmlns:a16="http://schemas.microsoft.com/office/drawing/2014/main" id="{11689922-26D8-296B-C5F1-0D975B4DFE33}"/>
              </a:ext>
            </a:extLst>
          </p:cNvPr>
          <p:cNvSpPr txBox="1">
            <a:spLocks/>
          </p:cNvSpPr>
          <p:nvPr/>
        </p:nvSpPr>
        <p:spPr>
          <a:xfrm>
            <a:off x="1076960" y="2409506"/>
            <a:ext cx="7985760" cy="1756093"/>
          </a:xfrm>
          <a:prstGeom prst="rect">
            <a:avLst/>
          </a:prstGeom>
        </p:spPr>
        <p:txBody>
          <a:bodyPr vert="horz" lIns="91440" tIns="45720" rIns="91440" bIns="45720" rtlCol="0" anchor="b">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zh-CN" altLang="en-US" sz="4000" dirty="0"/>
              <a:t>代码演示：</a:t>
            </a:r>
            <a:endParaRPr lang="en-US" altLang="zh-CN" sz="4000" dirty="0"/>
          </a:p>
          <a:p>
            <a:pPr marL="742950" indent="-742950">
              <a:buAutoNum type="arabicPeriod"/>
            </a:pPr>
            <a:r>
              <a:rPr lang="zh-CN" altLang="en-US" sz="4000" dirty="0"/>
              <a:t>耗时同步函数的问题</a:t>
            </a:r>
            <a:endParaRPr lang="en-US" altLang="zh-CN" sz="4000" dirty="0"/>
          </a:p>
          <a:p>
            <a:pPr marL="742950" indent="-742950">
              <a:buAutoNum type="arabicPeriod"/>
            </a:pPr>
            <a:r>
              <a:rPr lang="zh-CN" altLang="en-US" sz="4000" dirty="0"/>
              <a:t>事件处理程序</a:t>
            </a:r>
          </a:p>
        </p:txBody>
      </p:sp>
    </p:spTree>
    <p:extLst>
      <p:ext uri="{BB962C8B-B14F-4D97-AF65-F5344CB8AC3E}">
        <p14:creationId xmlns:p14="http://schemas.microsoft.com/office/powerpoint/2010/main" val="30084676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208DDB-EEA8-0D92-7013-DA5E50634268}"/>
              </a:ext>
            </a:extLst>
          </p:cNvPr>
          <p:cNvSpPr>
            <a:spLocks noGrp="1"/>
          </p:cNvSpPr>
          <p:nvPr>
            <p:ph type="title" idx="4294967295"/>
          </p:nvPr>
        </p:nvSpPr>
        <p:spPr>
          <a:xfrm>
            <a:off x="436880" y="255587"/>
            <a:ext cx="7985760" cy="699454"/>
          </a:xfrm>
        </p:spPr>
        <p:txBody>
          <a:bodyPr>
            <a:normAutofit/>
          </a:bodyPr>
          <a:lstStyle/>
          <a:p>
            <a:r>
              <a:rPr lang="zh-CN" altLang="en-US" sz="4000" dirty="0"/>
              <a:t>回调函数 </a:t>
            </a:r>
            <a:r>
              <a:rPr lang="en-US" altLang="zh-CN" sz="4000" dirty="0"/>
              <a:t>callback</a:t>
            </a:r>
            <a:endParaRPr lang="zh-CN" altLang="en-US" sz="4000" dirty="0"/>
          </a:p>
        </p:txBody>
      </p:sp>
      <p:sp>
        <p:nvSpPr>
          <p:cNvPr id="6" name="Content Placeholder 2">
            <a:extLst>
              <a:ext uri="{FF2B5EF4-FFF2-40B4-BE49-F238E27FC236}">
                <a16:creationId xmlns:a16="http://schemas.microsoft.com/office/drawing/2014/main" id="{CDBB5233-DD74-0EA6-A3BC-A35F86AA2C31}"/>
              </a:ext>
            </a:extLst>
          </p:cNvPr>
          <p:cNvSpPr txBox="1">
            <a:spLocks/>
          </p:cNvSpPr>
          <p:nvPr/>
        </p:nvSpPr>
        <p:spPr>
          <a:xfrm>
            <a:off x="436880" y="1087120"/>
            <a:ext cx="11470640" cy="5100003"/>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br>
              <a:rPr lang="zh-CN" altLang="en-US" sz="2400" b="0" i="0" dirty="0">
                <a:solidFill>
                  <a:srgbClr val="1B1B1B"/>
                </a:solidFill>
                <a:effectLst/>
                <a:latin typeface="Inter"/>
              </a:rPr>
            </a:br>
            <a:endParaRPr lang="zh-CN" altLang="en-US" dirty="0"/>
          </a:p>
        </p:txBody>
      </p:sp>
      <p:sp>
        <p:nvSpPr>
          <p:cNvPr id="3" name="Content Placeholder 2">
            <a:extLst>
              <a:ext uri="{FF2B5EF4-FFF2-40B4-BE49-F238E27FC236}">
                <a16:creationId xmlns:a16="http://schemas.microsoft.com/office/drawing/2014/main" id="{555D46F2-18D0-8027-EA54-65FC11AF2BE7}"/>
              </a:ext>
            </a:extLst>
          </p:cNvPr>
          <p:cNvSpPr txBox="1">
            <a:spLocks/>
          </p:cNvSpPr>
          <p:nvPr/>
        </p:nvSpPr>
        <p:spPr>
          <a:xfrm>
            <a:off x="589280" y="1239520"/>
            <a:ext cx="11470640" cy="5100003"/>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Arial" panose="020B0604020202020204" pitchFamily="34" charset="0"/>
              <a:buChar char="•"/>
            </a:pPr>
            <a:r>
              <a:rPr lang="zh-CN" altLang="en-US" sz="2800" b="1" dirty="0">
                <a:solidFill>
                  <a:srgbClr val="24292F"/>
                </a:solidFill>
                <a:latin typeface="Noto Sans SC"/>
              </a:rPr>
              <a:t> 事件处理程序是一种特殊类型的回调函数</a:t>
            </a:r>
            <a:endParaRPr lang="en-US" altLang="zh-CN" sz="2800" b="1" dirty="0">
              <a:solidFill>
                <a:srgbClr val="24292F"/>
              </a:solidFill>
              <a:latin typeface="Noto Sans SC"/>
            </a:endParaRPr>
          </a:p>
          <a:p>
            <a:pPr>
              <a:buFont typeface="Arial" panose="020B0604020202020204" pitchFamily="34" charset="0"/>
              <a:buChar char="•"/>
            </a:pPr>
            <a:r>
              <a:rPr lang="zh-CN" altLang="en-US" sz="2800" b="1" dirty="0">
                <a:solidFill>
                  <a:srgbClr val="24292F"/>
                </a:solidFill>
                <a:latin typeface="Noto Sans SC"/>
              </a:rPr>
              <a:t> 回调函数是一个被传递到另一个函数中的会在适当的时候被调用的函数</a:t>
            </a:r>
            <a:endParaRPr lang="zh-CN" altLang="en-US" sz="2800" dirty="0">
              <a:solidFill>
                <a:srgbClr val="24292F"/>
              </a:solidFill>
              <a:latin typeface="Noto Sans SC"/>
            </a:endParaRPr>
          </a:p>
          <a:p>
            <a:pPr>
              <a:buFont typeface="Arial" panose="020B0604020202020204" pitchFamily="34" charset="0"/>
              <a:buChar char="•"/>
            </a:pPr>
            <a:r>
              <a:rPr lang="zh-CN" altLang="en-US" sz="2800" b="1" dirty="0">
                <a:solidFill>
                  <a:srgbClr val="24292F"/>
                </a:solidFill>
                <a:latin typeface="Noto Sans SC"/>
              </a:rPr>
              <a:t> </a:t>
            </a:r>
            <a:endParaRPr lang="zh-CN" altLang="en-US" dirty="0"/>
          </a:p>
        </p:txBody>
      </p:sp>
      <p:pic>
        <p:nvPicPr>
          <p:cNvPr id="5" name="Picture 4">
            <a:extLst>
              <a:ext uri="{FF2B5EF4-FFF2-40B4-BE49-F238E27FC236}">
                <a16:creationId xmlns:a16="http://schemas.microsoft.com/office/drawing/2014/main" id="{9892009B-2D0C-BAFE-0B1D-B00B5237C76B}"/>
              </a:ext>
            </a:extLst>
          </p:cNvPr>
          <p:cNvPicPr>
            <a:picLocks noChangeAspect="1"/>
          </p:cNvPicPr>
          <p:nvPr/>
        </p:nvPicPr>
        <p:blipFill>
          <a:blip r:embed="rId2"/>
          <a:stretch>
            <a:fillRect/>
          </a:stretch>
        </p:blipFill>
        <p:spPr>
          <a:xfrm>
            <a:off x="830339" y="2424167"/>
            <a:ext cx="7419581" cy="3198801"/>
          </a:xfrm>
          <a:prstGeom prst="rect">
            <a:avLst/>
          </a:prstGeom>
        </p:spPr>
      </p:pic>
    </p:spTree>
    <p:extLst>
      <p:ext uri="{BB962C8B-B14F-4D97-AF65-F5344CB8AC3E}">
        <p14:creationId xmlns:p14="http://schemas.microsoft.com/office/powerpoint/2010/main" val="14117943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208DDB-EEA8-0D92-7013-DA5E50634268}"/>
              </a:ext>
            </a:extLst>
          </p:cNvPr>
          <p:cNvSpPr>
            <a:spLocks noGrp="1"/>
          </p:cNvSpPr>
          <p:nvPr>
            <p:ph type="title" idx="4294967295"/>
          </p:nvPr>
        </p:nvSpPr>
        <p:spPr>
          <a:xfrm>
            <a:off x="436880" y="255587"/>
            <a:ext cx="7985760" cy="699454"/>
          </a:xfrm>
        </p:spPr>
        <p:txBody>
          <a:bodyPr>
            <a:normAutofit/>
          </a:bodyPr>
          <a:lstStyle/>
          <a:p>
            <a:r>
              <a:rPr lang="en-US" altLang="zh-CN" sz="4000" dirty="0" err="1"/>
              <a:t>setTimeout</a:t>
            </a:r>
            <a:r>
              <a:rPr lang="en-US" altLang="zh-CN" sz="4000" dirty="0"/>
              <a:t> </a:t>
            </a:r>
            <a:r>
              <a:rPr lang="zh-CN" altLang="en-US" sz="4000" dirty="0"/>
              <a:t>函数</a:t>
            </a:r>
          </a:p>
        </p:txBody>
      </p:sp>
      <p:sp>
        <p:nvSpPr>
          <p:cNvPr id="6" name="Content Placeholder 2">
            <a:extLst>
              <a:ext uri="{FF2B5EF4-FFF2-40B4-BE49-F238E27FC236}">
                <a16:creationId xmlns:a16="http://schemas.microsoft.com/office/drawing/2014/main" id="{CDBB5233-DD74-0EA6-A3BC-A35F86AA2C31}"/>
              </a:ext>
            </a:extLst>
          </p:cNvPr>
          <p:cNvSpPr txBox="1">
            <a:spLocks/>
          </p:cNvSpPr>
          <p:nvPr/>
        </p:nvSpPr>
        <p:spPr>
          <a:xfrm>
            <a:off x="436880" y="1087120"/>
            <a:ext cx="11470640" cy="5100003"/>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br>
              <a:rPr lang="zh-CN" altLang="en-US" sz="2400" b="0" i="0" dirty="0">
                <a:solidFill>
                  <a:srgbClr val="1B1B1B"/>
                </a:solidFill>
                <a:effectLst/>
                <a:latin typeface="Inter"/>
              </a:rPr>
            </a:br>
            <a:endParaRPr lang="zh-CN" altLang="en-US" dirty="0"/>
          </a:p>
        </p:txBody>
      </p:sp>
      <p:sp>
        <p:nvSpPr>
          <p:cNvPr id="3" name="Content Placeholder 2">
            <a:extLst>
              <a:ext uri="{FF2B5EF4-FFF2-40B4-BE49-F238E27FC236}">
                <a16:creationId xmlns:a16="http://schemas.microsoft.com/office/drawing/2014/main" id="{555D46F2-18D0-8027-EA54-65FC11AF2BE7}"/>
              </a:ext>
            </a:extLst>
          </p:cNvPr>
          <p:cNvSpPr txBox="1">
            <a:spLocks/>
          </p:cNvSpPr>
          <p:nvPr/>
        </p:nvSpPr>
        <p:spPr>
          <a:xfrm>
            <a:off x="589280" y="1239520"/>
            <a:ext cx="11470640" cy="5100003"/>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Arial" panose="020B0604020202020204" pitchFamily="34" charset="0"/>
              <a:buChar char="•"/>
            </a:pPr>
            <a:r>
              <a:rPr lang="zh-CN" altLang="en-US" sz="2800" b="1" dirty="0">
                <a:solidFill>
                  <a:srgbClr val="24292F"/>
                </a:solidFill>
                <a:latin typeface="Noto Sans SC"/>
              </a:rPr>
              <a:t> </a:t>
            </a:r>
            <a:r>
              <a:rPr lang="en-US" altLang="zh-CN" sz="2800" b="1" dirty="0" err="1">
                <a:solidFill>
                  <a:srgbClr val="24292F"/>
                </a:solidFill>
                <a:latin typeface="Noto Sans SC"/>
              </a:rPr>
              <a:t>setTimeout</a:t>
            </a:r>
            <a:r>
              <a:rPr lang="en-US" altLang="zh-CN" sz="2800" b="1" dirty="0">
                <a:solidFill>
                  <a:srgbClr val="24292F"/>
                </a:solidFill>
                <a:latin typeface="Noto Sans SC"/>
              </a:rPr>
              <a:t> </a:t>
            </a:r>
            <a:r>
              <a:rPr lang="zh-CN" altLang="en-US" sz="2800" b="1" dirty="0">
                <a:solidFill>
                  <a:srgbClr val="24292F"/>
                </a:solidFill>
                <a:latin typeface="Noto Sans SC"/>
              </a:rPr>
              <a:t>是 </a:t>
            </a:r>
            <a:r>
              <a:rPr lang="en-US" altLang="zh-CN" sz="2800" b="1" dirty="0">
                <a:solidFill>
                  <a:srgbClr val="24292F"/>
                </a:solidFill>
                <a:latin typeface="Noto Sans SC"/>
              </a:rPr>
              <a:t>JavaScript </a:t>
            </a:r>
            <a:r>
              <a:rPr lang="zh-CN" altLang="en-US" sz="2800" b="1" dirty="0">
                <a:solidFill>
                  <a:srgbClr val="24292F"/>
                </a:solidFill>
                <a:latin typeface="Noto Sans SC"/>
              </a:rPr>
              <a:t>中用于延迟执行代码的函数。</a:t>
            </a:r>
            <a:endParaRPr lang="en-US" altLang="zh-CN" sz="2800" b="1" dirty="0">
              <a:solidFill>
                <a:srgbClr val="24292F"/>
              </a:solidFill>
              <a:latin typeface="Noto Sans SC"/>
            </a:endParaRPr>
          </a:p>
          <a:p>
            <a:pPr>
              <a:buFont typeface="Arial" panose="020B0604020202020204" pitchFamily="34" charset="0"/>
              <a:buChar char="•"/>
            </a:pPr>
            <a:r>
              <a:rPr lang="zh-CN" altLang="en-US" sz="2800" b="1" dirty="0">
                <a:solidFill>
                  <a:srgbClr val="24292F"/>
                </a:solidFill>
                <a:latin typeface="Noto Sans SC"/>
              </a:rPr>
              <a:t>它允许你指定一个在未来某个时间段后执行的回调函数。</a:t>
            </a:r>
            <a:endParaRPr lang="en-US" altLang="zh-CN" sz="2800" b="1" dirty="0">
              <a:solidFill>
                <a:srgbClr val="24292F"/>
              </a:solidFill>
              <a:latin typeface="Noto Sans SC"/>
            </a:endParaRPr>
          </a:p>
          <a:p>
            <a:pPr>
              <a:buFont typeface="Arial" panose="020B0604020202020204" pitchFamily="34" charset="0"/>
              <a:buChar char="•"/>
            </a:pPr>
            <a:r>
              <a:rPr lang="zh-CN" altLang="en-US" sz="2800" b="1" dirty="0">
                <a:solidFill>
                  <a:srgbClr val="24292F"/>
                </a:solidFill>
                <a:latin typeface="Noto Sans SC"/>
              </a:rPr>
              <a:t> </a:t>
            </a:r>
            <a:endParaRPr lang="zh-CN" altLang="en-US" dirty="0"/>
          </a:p>
        </p:txBody>
      </p:sp>
      <p:pic>
        <p:nvPicPr>
          <p:cNvPr id="7" name="Picture 6">
            <a:extLst>
              <a:ext uri="{FF2B5EF4-FFF2-40B4-BE49-F238E27FC236}">
                <a16:creationId xmlns:a16="http://schemas.microsoft.com/office/drawing/2014/main" id="{51216EBE-0008-C90A-F4C5-A98F780C16F7}"/>
              </a:ext>
            </a:extLst>
          </p:cNvPr>
          <p:cNvPicPr>
            <a:picLocks noChangeAspect="1"/>
          </p:cNvPicPr>
          <p:nvPr/>
        </p:nvPicPr>
        <p:blipFill>
          <a:blip r:embed="rId2"/>
          <a:stretch>
            <a:fillRect/>
          </a:stretch>
        </p:blipFill>
        <p:spPr>
          <a:xfrm>
            <a:off x="719788" y="2397661"/>
            <a:ext cx="10288318" cy="3373219"/>
          </a:xfrm>
          <a:prstGeom prst="rect">
            <a:avLst/>
          </a:prstGeom>
        </p:spPr>
      </p:pic>
    </p:spTree>
    <p:extLst>
      <p:ext uri="{BB962C8B-B14F-4D97-AF65-F5344CB8AC3E}">
        <p14:creationId xmlns:p14="http://schemas.microsoft.com/office/powerpoint/2010/main" val="38530698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208DDB-EEA8-0D92-7013-DA5E50634268}"/>
              </a:ext>
            </a:extLst>
          </p:cNvPr>
          <p:cNvSpPr>
            <a:spLocks noGrp="1"/>
          </p:cNvSpPr>
          <p:nvPr>
            <p:ph type="title" idx="4294967295"/>
          </p:nvPr>
        </p:nvSpPr>
        <p:spPr>
          <a:xfrm>
            <a:off x="436880" y="255587"/>
            <a:ext cx="7985760" cy="699454"/>
          </a:xfrm>
        </p:spPr>
        <p:txBody>
          <a:bodyPr>
            <a:normAutofit/>
          </a:bodyPr>
          <a:lstStyle/>
          <a:p>
            <a:r>
              <a:rPr lang="en-US" altLang="zh-CN" sz="4000" dirty="0" err="1"/>
              <a:t>setTimeout</a:t>
            </a:r>
            <a:r>
              <a:rPr lang="en-US" altLang="zh-CN" sz="4000" dirty="0"/>
              <a:t> </a:t>
            </a:r>
            <a:r>
              <a:rPr lang="zh-CN" altLang="en-US" sz="4000" dirty="0"/>
              <a:t>函数 示例</a:t>
            </a:r>
            <a:r>
              <a:rPr lang="en-US" altLang="zh-CN" sz="4000" dirty="0"/>
              <a:t>1</a:t>
            </a:r>
            <a:endParaRPr lang="zh-CN" altLang="en-US" sz="4000" dirty="0"/>
          </a:p>
        </p:txBody>
      </p:sp>
      <p:sp>
        <p:nvSpPr>
          <p:cNvPr id="6" name="Content Placeholder 2">
            <a:extLst>
              <a:ext uri="{FF2B5EF4-FFF2-40B4-BE49-F238E27FC236}">
                <a16:creationId xmlns:a16="http://schemas.microsoft.com/office/drawing/2014/main" id="{CDBB5233-DD74-0EA6-A3BC-A35F86AA2C31}"/>
              </a:ext>
            </a:extLst>
          </p:cNvPr>
          <p:cNvSpPr txBox="1">
            <a:spLocks/>
          </p:cNvSpPr>
          <p:nvPr/>
        </p:nvSpPr>
        <p:spPr>
          <a:xfrm>
            <a:off x="436880" y="1087120"/>
            <a:ext cx="11470640" cy="5100003"/>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br>
              <a:rPr lang="zh-CN" altLang="en-US" sz="2400" b="0" i="0" dirty="0">
                <a:solidFill>
                  <a:srgbClr val="1B1B1B"/>
                </a:solidFill>
                <a:effectLst/>
                <a:latin typeface="Inter"/>
              </a:rPr>
            </a:br>
            <a:endParaRPr lang="zh-CN" altLang="en-US" dirty="0"/>
          </a:p>
        </p:txBody>
      </p:sp>
      <p:sp>
        <p:nvSpPr>
          <p:cNvPr id="3" name="Content Placeholder 2">
            <a:extLst>
              <a:ext uri="{FF2B5EF4-FFF2-40B4-BE49-F238E27FC236}">
                <a16:creationId xmlns:a16="http://schemas.microsoft.com/office/drawing/2014/main" id="{555D46F2-18D0-8027-EA54-65FC11AF2BE7}"/>
              </a:ext>
            </a:extLst>
          </p:cNvPr>
          <p:cNvSpPr txBox="1">
            <a:spLocks/>
          </p:cNvSpPr>
          <p:nvPr/>
        </p:nvSpPr>
        <p:spPr>
          <a:xfrm>
            <a:off x="589280" y="1239520"/>
            <a:ext cx="11470640" cy="5100003"/>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Arial" panose="020B0604020202020204" pitchFamily="34" charset="0"/>
              <a:buChar char="•"/>
            </a:pPr>
            <a:r>
              <a:rPr lang="zh-CN" altLang="en-US" sz="2800" b="1" dirty="0">
                <a:solidFill>
                  <a:srgbClr val="24292F"/>
                </a:solidFill>
                <a:latin typeface="Noto Sans SC"/>
              </a:rPr>
              <a:t> </a:t>
            </a:r>
            <a:endParaRPr lang="zh-CN" altLang="en-US" dirty="0"/>
          </a:p>
        </p:txBody>
      </p:sp>
      <p:pic>
        <p:nvPicPr>
          <p:cNvPr id="5" name="Picture 4">
            <a:extLst>
              <a:ext uri="{FF2B5EF4-FFF2-40B4-BE49-F238E27FC236}">
                <a16:creationId xmlns:a16="http://schemas.microsoft.com/office/drawing/2014/main" id="{F3893297-7F59-0C17-4519-C6355FEDC428}"/>
              </a:ext>
            </a:extLst>
          </p:cNvPr>
          <p:cNvPicPr>
            <a:picLocks noChangeAspect="1"/>
          </p:cNvPicPr>
          <p:nvPr/>
        </p:nvPicPr>
        <p:blipFill>
          <a:blip r:embed="rId2"/>
          <a:srcRect t="14215"/>
          <a:stretch/>
        </p:blipFill>
        <p:spPr>
          <a:xfrm>
            <a:off x="1010620" y="1493520"/>
            <a:ext cx="9891274" cy="3495039"/>
          </a:xfrm>
          <a:prstGeom prst="rect">
            <a:avLst/>
          </a:prstGeom>
        </p:spPr>
      </p:pic>
      <p:sp>
        <p:nvSpPr>
          <p:cNvPr id="9" name="TextBox 8">
            <a:extLst>
              <a:ext uri="{FF2B5EF4-FFF2-40B4-BE49-F238E27FC236}">
                <a16:creationId xmlns:a16="http://schemas.microsoft.com/office/drawing/2014/main" id="{1F93DF51-295C-02F3-3729-6401E3ADB4EF}"/>
              </a:ext>
            </a:extLst>
          </p:cNvPr>
          <p:cNvSpPr txBox="1"/>
          <p:nvPr/>
        </p:nvSpPr>
        <p:spPr>
          <a:xfrm>
            <a:off x="914400" y="5489080"/>
            <a:ext cx="10363200" cy="707886"/>
          </a:xfrm>
          <a:prstGeom prst="rect">
            <a:avLst/>
          </a:prstGeom>
          <a:noFill/>
        </p:spPr>
        <p:txBody>
          <a:bodyPr wrap="square" rtlCol="0">
            <a:spAutoFit/>
          </a:bodyPr>
          <a:lstStyle/>
          <a:p>
            <a:r>
              <a:rPr lang="zh-CN" altLang="en-US" sz="2000" b="1" dirty="0"/>
              <a:t>注意</a:t>
            </a:r>
            <a:r>
              <a:rPr lang="zh-CN" altLang="en-US" sz="2000" dirty="0"/>
              <a:t>：延迟时间的不精确性：</a:t>
            </a:r>
            <a:r>
              <a:rPr lang="en-US" altLang="zh-CN" sz="2000" dirty="0" err="1"/>
              <a:t>setTimeout</a:t>
            </a:r>
            <a:r>
              <a:rPr lang="en-US" altLang="zh-CN" sz="2000" dirty="0"/>
              <a:t> </a:t>
            </a:r>
            <a:r>
              <a:rPr lang="zh-CN" altLang="en-US" sz="2000" dirty="0"/>
              <a:t>并不保证在指定的延迟时间后精确执行，而是在延迟时间过后尽快执行。因此，如果需要精确的时间控制，可能需要考虑其他方式。</a:t>
            </a:r>
          </a:p>
        </p:txBody>
      </p:sp>
    </p:spTree>
    <p:extLst>
      <p:ext uri="{BB962C8B-B14F-4D97-AF65-F5344CB8AC3E}">
        <p14:creationId xmlns:p14="http://schemas.microsoft.com/office/powerpoint/2010/main" val="17698382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208DDB-EEA8-0D92-7013-DA5E50634268}"/>
              </a:ext>
            </a:extLst>
          </p:cNvPr>
          <p:cNvSpPr>
            <a:spLocks noGrp="1"/>
          </p:cNvSpPr>
          <p:nvPr>
            <p:ph type="title" idx="4294967295"/>
          </p:nvPr>
        </p:nvSpPr>
        <p:spPr>
          <a:xfrm>
            <a:off x="436880" y="255587"/>
            <a:ext cx="7985760" cy="699454"/>
          </a:xfrm>
        </p:spPr>
        <p:txBody>
          <a:bodyPr>
            <a:normAutofit/>
          </a:bodyPr>
          <a:lstStyle/>
          <a:p>
            <a:r>
              <a:rPr lang="en-US" altLang="zh-CN" sz="4000" dirty="0" err="1"/>
              <a:t>setTimeout</a:t>
            </a:r>
            <a:r>
              <a:rPr lang="en-US" altLang="zh-CN" sz="4000" dirty="0"/>
              <a:t> </a:t>
            </a:r>
            <a:r>
              <a:rPr lang="zh-CN" altLang="en-US" sz="4000" dirty="0"/>
              <a:t>函数示例</a:t>
            </a:r>
            <a:r>
              <a:rPr lang="en-US" altLang="zh-CN" sz="4000" dirty="0"/>
              <a:t>2</a:t>
            </a:r>
            <a:endParaRPr lang="zh-CN" altLang="en-US" sz="4000" dirty="0"/>
          </a:p>
        </p:txBody>
      </p:sp>
      <p:sp>
        <p:nvSpPr>
          <p:cNvPr id="6" name="Content Placeholder 2">
            <a:extLst>
              <a:ext uri="{FF2B5EF4-FFF2-40B4-BE49-F238E27FC236}">
                <a16:creationId xmlns:a16="http://schemas.microsoft.com/office/drawing/2014/main" id="{CDBB5233-DD74-0EA6-A3BC-A35F86AA2C31}"/>
              </a:ext>
            </a:extLst>
          </p:cNvPr>
          <p:cNvSpPr txBox="1">
            <a:spLocks/>
          </p:cNvSpPr>
          <p:nvPr/>
        </p:nvSpPr>
        <p:spPr>
          <a:xfrm>
            <a:off x="436880" y="1087120"/>
            <a:ext cx="11470640" cy="5100003"/>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br>
              <a:rPr lang="zh-CN" altLang="en-US" sz="2400" b="0" i="0" dirty="0">
                <a:solidFill>
                  <a:srgbClr val="1B1B1B"/>
                </a:solidFill>
                <a:effectLst/>
                <a:latin typeface="Inter"/>
              </a:rPr>
            </a:br>
            <a:endParaRPr lang="zh-CN" altLang="en-US" dirty="0"/>
          </a:p>
        </p:txBody>
      </p:sp>
      <p:sp>
        <p:nvSpPr>
          <p:cNvPr id="3" name="Content Placeholder 2">
            <a:extLst>
              <a:ext uri="{FF2B5EF4-FFF2-40B4-BE49-F238E27FC236}">
                <a16:creationId xmlns:a16="http://schemas.microsoft.com/office/drawing/2014/main" id="{555D46F2-18D0-8027-EA54-65FC11AF2BE7}"/>
              </a:ext>
            </a:extLst>
          </p:cNvPr>
          <p:cNvSpPr txBox="1">
            <a:spLocks/>
          </p:cNvSpPr>
          <p:nvPr/>
        </p:nvSpPr>
        <p:spPr>
          <a:xfrm>
            <a:off x="589280" y="1239520"/>
            <a:ext cx="11470640" cy="5100003"/>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Arial" panose="020B0604020202020204" pitchFamily="34" charset="0"/>
              <a:buChar char="•"/>
            </a:pPr>
            <a:r>
              <a:rPr lang="zh-CN" altLang="en-US" sz="2800" b="1" dirty="0">
                <a:solidFill>
                  <a:srgbClr val="24292F"/>
                </a:solidFill>
                <a:latin typeface="Noto Sans SC"/>
              </a:rPr>
              <a:t> </a:t>
            </a:r>
            <a:endParaRPr lang="zh-CN" altLang="en-US" dirty="0"/>
          </a:p>
        </p:txBody>
      </p:sp>
      <p:pic>
        <p:nvPicPr>
          <p:cNvPr id="7" name="Picture 6">
            <a:extLst>
              <a:ext uri="{FF2B5EF4-FFF2-40B4-BE49-F238E27FC236}">
                <a16:creationId xmlns:a16="http://schemas.microsoft.com/office/drawing/2014/main" id="{7B8B0A60-916D-17C1-9E4D-E923B8B2D1AC}"/>
              </a:ext>
            </a:extLst>
          </p:cNvPr>
          <p:cNvPicPr>
            <a:picLocks noChangeAspect="1"/>
          </p:cNvPicPr>
          <p:nvPr/>
        </p:nvPicPr>
        <p:blipFill>
          <a:blip r:embed="rId2"/>
          <a:stretch>
            <a:fillRect/>
          </a:stretch>
        </p:blipFill>
        <p:spPr>
          <a:xfrm>
            <a:off x="897594" y="1107442"/>
            <a:ext cx="9049046" cy="4731792"/>
          </a:xfrm>
          <a:prstGeom prst="rect">
            <a:avLst/>
          </a:prstGeom>
        </p:spPr>
      </p:pic>
    </p:spTree>
    <p:extLst>
      <p:ext uri="{BB962C8B-B14F-4D97-AF65-F5344CB8AC3E}">
        <p14:creationId xmlns:p14="http://schemas.microsoft.com/office/powerpoint/2010/main" val="30775343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5888C3-5AB6-DEC1-A26B-FB957E60D3DD}"/>
              </a:ext>
            </a:extLst>
          </p:cNvPr>
          <p:cNvSpPr>
            <a:spLocks noGrp="1"/>
          </p:cNvSpPr>
          <p:nvPr>
            <p:ph type="ctrTitle"/>
          </p:nvPr>
        </p:nvSpPr>
        <p:spPr/>
        <p:txBody>
          <a:bodyPr/>
          <a:lstStyle/>
          <a:p>
            <a:r>
              <a:rPr lang="en-US" altLang="zh-CN" dirty="0"/>
              <a:t>JS</a:t>
            </a:r>
            <a:r>
              <a:rPr lang="zh-CN" altLang="en-US" dirty="0"/>
              <a:t>异步背后的机制</a:t>
            </a:r>
          </a:p>
        </p:txBody>
      </p:sp>
      <p:sp>
        <p:nvSpPr>
          <p:cNvPr id="3" name="Subtitle 2">
            <a:extLst>
              <a:ext uri="{FF2B5EF4-FFF2-40B4-BE49-F238E27FC236}">
                <a16:creationId xmlns:a16="http://schemas.microsoft.com/office/drawing/2014/main" id="{B7C3531B-88CE-ACC9-D129-2AA4C3F03D39}"/>
              </a:ext>
            </a:extLst>
          </p:cNvPr>
          <p:cNvSpPr>
            <a:spLocks noGrp="1"/>
          </p:cNvSpPr>
          <p:nvPr>
            <p:ph type="subTitle" idx="1"/>
          </p:nvPr>
        </p:nvSpPr>
        <p:spPr/>
        <p:txBody>
          <a:bodyPr/>
          <a:lstStyle/>
          <a:p>
            <a:endParaRPr lang="zh-CN" altLang="en-US"/>
          </a:p>
        </p:txBody>
      </p:sp>
    </p:spTree>
    <p:extLst>
      <p:ext uri="{BB962C8B-B14F-4D97-AF65-F5344CB8AC3E}">
        <p14:creationId xmlns:p14="http://schemas.microsoft.com/office/powerpoint/2010/main" val="12847322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208DDB-EEA8-0D92-7013-DA5E50634268}"/>
              </a:ext>
            </a:extLst>
          </p:cNvPr>
          <p:cNvSpPr>
            <a:spLocks noGrp="1"/>
          </p:cNvSpPr>
          <p:nvPr>
            <p:ph type="title" idx="4294967295"/>
          </p:nvPr>
        </p:nvSpPr>
        <p:spPr>
          <a:xfrm>
            <a:off x="436880" y="255587"/>
            <a:ext cx="7985760" cy="699454"/>
          </a:xfrm>
        </p:spPr>
        <p:txBody>
          <a:bodyPr>
            <a:normAutofit/>
          </a:bodyPr>
          <a:lstStyle/>
          <a:p>
            <a:r>
              <a:rPr lang="en-US" altLang="zh-CN" sz="4000" dirty="0"/>
              <a:t>JS </a:t>
            </a:r>
            <a:r>
              <a:rPr lang="zh-CN" altLang="en-US" sz="4000" dirty="0"/>
              <a:t>是单线程语言</a:t>
            </a:r>
          </a:p>
        </p:txBody>
      </p:sp>
      <p:sp>
        <p:nvSpPr>
          <p:cNvPr id="6" name="Content Placeholder 2">
            <a:extLst>
              <a:ext uri="{FF2B5EF4-FFF2-40B4-BE49-F238E27FC236}">
                <a16:creationId xmlns:a16="http://schemas.microsoft.com/office/drawing/2014/main" id="{CDBB5233-DD74-0EA6-A3BC-A35F86AA2C31}"/>
              </a:ext>
            </a:extLst>
          </p:cNvPr>
          <p:cNvSpPr txBox="1">
            <a:spLocks/>
          </p:cNvSpPr>
          <p:nvPr/>
        </p:nvSpPr>
        <p:spPr>
          <a:xfrm>
            <a:off x="436880" y="1087120"/>
            <a:ext cx="11470640" cy="5100003"/>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br>
              <a:rPr lang="zh-CN" altLang="en-US" sz="2400" b="0" i="0" dirty="0">
                <a:solidFill>
                  <a:srgbClr val="1B1B1B"/>
                </a:solidFill>
                <a:effectLst/>
                <a:latin typeface="Inter"/>
              </a:rPr>
            </a:br>
            <a:endParaRPr lang="zh-CN" altLang="en-US" dirty="0"/>
          </a:p>
        </p:txBody>
      </p:sp>
      <p:sp>
        <p:nvSpPr>
          <p:cNvPr id="3" name="Content Placeholder 2">
            <a:extLst>
              <a:ext uri="{FF2B5EF4-FFF2-40B4-BE49-F238E27FC236}">
                <a16:creationId xmlns:a16="http://schemas.microsoft.com/office/drawing/2014/main" id="{555D46F2-18D0-8027-EA54-65FC11AF2BE7}"/>
              </a:ext>
            </a:extLst>
          </p:cNvPr>
          <p:cNvSpPr txBox="1">
            <a:spLocks/>
          </p:cNvSpPr>
          <p:nvPr/>
        </p:nvSpPr>
        <p:spPr>
          <a:xfrm>
            <a:off x="589280" y="1391921"/>
            <a:ext cx="11470640" cy="4632960"/>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Arial" panose="020B0604020202020204" pitchFamily="34" charset="0"/>
              <a:buChar char="•"/>
            </a:pPr>
            <a:r>
              <a:rPr lang="zh-CN" altLang="en-US" sz="2800" b="1" dirty="0">
                <a:solidFill>
                  <a:srgbClr val="24292F"/>
                </a:solidFill>
                <a:latin typeface="Noto Sans SC"/>
              </a:rPr>
              <a:t> </a:t>
            </a:r>
            <a:r>
              <a:rPr lang="en-US" altLang="zh-CN" sz="2800" b="1" dirty="0">
                <a:solidFill>
                  <a:srgbClr val="24292F"/>
                </a:solidFill>
                <a:latin typeface="Noto Sans SC"/>
              </a:rPr>
              <a:t>JS</a:t>
            </a:r>
            <a:r>
              <a:rPr lang="zh-CN" altLang="en-US" sz="2800" b="1" dirty="0">
                <a:solidFill>
                  <a:srgbClr val="24292F"/>
                </a:solidFill>
                <a:latin typeface="Noto Sans SC"/>
              </a:rPr>
              <a:t>是单线程语言，也就是说，同一个时间只能做一件事</a:t>
            </a:r>
            <a:endParaRPr lang="en-US" altLang="zh-CN" sz="2800" b="1" dirty="0">
              <a:solidFill>
                <a:srgbClr val="24292F"/>
              </a:solidFill>
              <a:latin typeface="Noto Sans SC"/>
            </a:endParaRPr>
          </a:p>
          <a:p>
            <a:pPr>
              <a:buFont typeface="Arial" panose="020B0604020202020204" pitchFamily="34" charset="0"/>
              <a:buChar char="•"/>
            </a:pPr>
            <a:r>
              <a:rPr lang="en-US" altLang="zh-CN" sz="2800" b="1" dirty="0">
                <a:solidFill>
                  <a:srgbClr val="24292F"/>
                </a:solidFill>
                <a:latin typeface="Noto Sans SC"/>
              </a:rPr>
              <a:t> JS</a:t>
            </a:r>
            <a:r>
              <a:rPr lang="zh-CN" altLang="en-US" sz="2800" b="1" dirty="0">
                <a:solidFill>
                  <a:srgbClr val="24292F"/>
                </a:solidFill>
                <a:latin typeface="Noto Sans SC"/>
              </a:rPr>
              <a:t>是浏览器脚本语言，它可以操纵 </a:t>
            </a:r>
            <a:r>
              <a:rPr lang="en-US" altLang="zh-CN" sz="2800" b="1" dirty="0">
                <a:solidFill>
                  <a:srgbClr val="24292F"/>
                </a:solidFill>
                <a:latin typeface="Noto Sans SC"/>
              </a:rPr>
              <a:t>DOM </a:t>
            </a:r>
            <a:r>
              <a:rPr lang="zh-CN" altLang="en-US" sz="2800" b="1" dirty="0">
                <a:solidFill>
                  <a:srgbClr val="24292F"/>
                </a:solidFill>
                <a:latin typeface="Noto Sans SC"/>
              </a:rPr>
              <a:t>，可以渲染动画，可以与用户进行互动，如果是多线程的话，执行顺序无法预知，而且操作以哪个线程为准也是个难题。</a:t>
            </a:r>
            <a:endParaRPr lang="en-US" altLang="zh-CN" sz="2800" b="1" dirty="0">
              <a:solidFill>
                <a:srgbClr val="24292F"/>
              </a:solidFill>
              <a:latin typeface="Noto Sans SC"/>
            </a:endParaRPr>
          </a:p>
          <a:p>
            <a:pPr>
              <a:buFont typeface="Arial" panose="020B0604020202020204" pitchFamily="34" charset="0"/>
              <a:buChar char="•"/>
            </a:pPr>
            <a:r>
              <a:rPr lang="zh-CN" altLang="en-US" sz="2800" b="1" dirty="0">
                <a:solidFill>
                  <a:srgbClr val="24292F"/>
                </a:solidFill>
                <a:latin typeface="Noto Sans SC"/>
              </a:rPr>
              <a:t>在 </a:t>
            </a:r>
            <a:r>
              <a:rPr lang="en-US" altLang="zh-CN" sz="2800" b="1" dirty="0">
                <a:solidFill>
                  <a:srgbClr val="24292F"/>
                </a:solidFill>
                <a:latin typeface="Noto Sans SC"/>
              </a:rPr>
              <a:t>HTML5 </a:t>
            </a:r>
            <a:r>
              <a:rPr lang="zh-CN" altLang="en-US" sz="2800" b="1" dirty="0">
                <a:solidFill>
                  <a:srgbClr val="24292F"/>
                </a:solidFill>
                <a:latin typeface="Noto Sans SC"/>
              </a:rPr>
              <a:t>时代，浏览器为了充分发挥 </a:t>
            </a:r>
            <a:r>
              <a:rPr lang="en-US" altLang="zh-CN" sz="2800" b="1" dirty="0">
                <a:solidFill>
                  <a:srgbClr val="24292F"/>
                </a:solidFill>
                <a:latin typeface="Noto Sans SC"/>
              </a:rPr>
              <a:t>CPU </a:t>
            </a:r>
            <a:r>
              <a:rPr lang="zh-CN" altLang="en-US" sz="2800" b="1" dirty="0">
                <a:solidFill>
                  <a:srgbClr val="24292F"/>
                </a:solidFill>
                <a:latin typeface="Noto Sans SC"/>
              </a:rPr>
              <a:t>性能优势，允许 </a:t>
            </a:r>
            <a:r>
              <a:rPr lang="en-US" altLang="zh-CN" sz="2800" b="1" dirty="0">
                <a:solidFill>
                  <a:srgbClr val="24292F"/>
                </a:solidFill>
                <a:latin typeface="Noto Sans SC"/>
              </a:rPr>
              <a:t>JavaScript </a:t>
            </a:r>
            <a:r>
              <a:rPr lang="zh-CN" altLang="en-US" sz="2800" b="1" dirty="0">
                <a:solidFill>
                  <a:srgbClr val="24292F"/>
                </a:solidFill>
                <a:latin typeface="Noto Sans SC"/>
              </a:rPr>
              <a:t>创建多个线程，但是即使能额外创建线程，这些子线程仍然是受到主线程控制，而且不得操作 </a:t>
            </a:r>
            <a:r>
              <a:rPr lang="en-US" altLang="zh-CN" sz="2800" b="1" dirty="0">
                <a:solidFill>
                  <a:srgbClr val="24292F"/>
                </a:solidFill>
                <a:latin typeface="Noto Sans SC"/>
              </a:rPr>
              <a:t>DOM</a:t>
            </a:r>
            <a:r>
              <a:rPr lang="zh-CN" altLang="en-US" sz="2800" b="1" dirty="0">
                <a:solidFill>
                  <a:srgbClr val="24292F"/>
                </a:solidFill>
                <a:latin typeface="Noto Sans SC"/>
              </a:rPr>
              <a:t>，类似于开辟一个线程来运算复杂性任务，运算好了通知主线程运算完毕，结果给你，这类似于异步的处理方式，所以本质上并没有改变 </a:t>
            </a:r>
            <a:r>
              <a:rPr lang="en-US" altLang="zh-CN" sz="2800" b="1" dirty="0">
                <a:solidFill>
                  <a:srgbClr val="24292F"/>
                </a:solidFill>
                <a:latin typeface="Noto Sans SC"/>
              </a:rPr>
              <a:t>JavaScript </a:t>
            </a:r>
            <a:r>
              <a:rPr lang="zh-CN" altLang="en-US" sz="2800" b="1" dirty="0">
                <a:solidFill>
                  <a:srgbClr val="24292F"/>
                </a:solidFill>
                <a:latin typeface="Noto Sans SC"/>
              </a:rPr>
              <a:t>单线程的本质。</a:t>
            </a:r>
            <a:endParaRPr lang="zh-CN" altLang="en-US" dirty="0"/>
          </a:p>
        </p:txBody>
      </p:sp>
    </p:spTree>
    <p:extLst>
      <p:ext uri="{BB962C8B-B14F-4D97-AF65-F5344CB8AC3E}">
        <p14:creationId xmlns:p14="http://schemas.microsoft.com/office/powerpoint/2010/main" val="37809090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208DDB-EEA8-0D92-7013-DA5E50634268}"/>
              </a:ext>
            </a:extLst>
          </p:cNvPr>
          <p:cNvSpPr>
            <a:spLocks noGrp="1"/>
          </p:cNvSpPr>
          <p:nvPr>
            <p:ph type="title" idx="4294967295"/>
          </p:nvPr>
        </p:nvSpPr>
        <p:spPr>
          <a:xfrm>
            <a:off x="436880" y="255587"/>
            <a:ext cx="7985760" cy="699454"/>
          </a:xfrm>
        </p:spPr>
        <p:txBody>
          <a:bodyPr>
            <a:normAutofit/>
          </a:bodyPr>
          <a:lstStyle/>
          <a:p>
            <a:r>
              <a:rPr lang="en-US" altLang="zh-CN" sz="4000" dirty="0"/>
              <a:t>JS </a:t>
            </a:r>
            <a:r>
              <a:rPr lang="zh-CN" altLang="en-US" sz="4000" dirty="0"/>
              <a:t>环境</a:t>
            </a:r>
          </a:p>
        </p:txBody>
      </p:sp>
      <p:sp>
        <p:nvSpPr>
          <p:cNvPr id="6" name="Content Placeholder 2">
            <a:extLst>
              <a:ext uri="{FF2B5EF4-FFF2-40B4-BE49-F238E27FC236}">
                <a16:creationId xmlns:a16="http://schemas.microsoft.com/office/drawing/2014/main" id="{CDBB5233-DD74-0EA6-A3BC-A35F86AA2C31}"/>
              </a:ext>
            </a:extLst>
          </p:cNvPr>
          <p:cNvSpPr txBox="1">
            <a:spLocks/>
          </p:cNvSpPr>
          <p:nvPr/>
        </p:nvSpPr>
        <p:spPr>
          <a:xfrm>
            <a:off x="436880" y="1087120"/>
            <a:ext cx="11470640" cy="5100003"/>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br>
              <a:rPr lang="zh-CN" altLang="en-US" sz="2400" b="0" i="0" dirty="0">
                <a:solidFill>
                  <a:srgbClr val="1B1B1B"/>
                </a:solidFill>
                <a:effectLst/>
                <a:latin typeface="Inter"/>
              </a:rPr>
            </a:br>
            <a:endParaRPr lang="zh-CN" altLang="en-US" dirty="0"/>
          </a:p>
        </p:txBody>
      </p:sp>
      <p:pic>
        <p:nvPicPr>
          <p:cNvPr id="3074" name="Picture 2">
            <a:extLst>
              <a:ext uri="{FF2B5EF4-FFF2-40B4-BE49-F238E27FC236}">
                <a16:creationId xmlns:a16="http://schemas.microsoft.com/office/drawing/2014/main" id="{AA3DD8D4-8363-A939-04C2-75D80A2699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644" y="1087120"/>
            <a:ext cx="6853947" cy="4663439"/>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CD2F91CE-EBDF-C851-BA73-366589C1C78F}"/>
              </a:ext>
            </a:extLst>
          </p:cNvPr>
          <p:cNvSpPr txBox="1"/>
          <p:nvPr/>
        </p:nvSpPr>
        <p:spPr>
          <a:xfrm>
            <a:off x="6768196" y="255587"/>
            <a:ext cx="5344160" cy="6001643"/>
          </a:xfrm>
          <a:prstGeom prst="rect">
            <a:avLst/>
          </a:prstGeom>
          <a:noFill/>
        </p:spPr>
        <p:txBody>
          <a:bodyPr wrap="square" rtlCol="0">
            <a:spAutoFit/>
          </a:bodyPr>
          <a:lstStyle/>
          <a:p>
            <a:pPr marL="285750" indent="-285750">
              <a:buFont typeface="Arial" panose="020B0604020202020204" pitchFamily="34" charset="0"/>
              <a:buChar char="•"/>
            </a:pPr>
            <a:r>
              <a:rPr lang="en-US" altLang="zh-CN" sz="2400" dirty="0"/>
              <a:t>Heap</a:t>
            </a:r>
            <a:r>
              <a:rPr lang="zh-CN" altLang="en-US" sz="2400" dirty="0"/>
              <a:t>：内存的堆部分，是变量值的存储位置</a:t>
            </a:r>
            <a:endParaRPr lang="en-US" altLang="zh-CN" sz="2400" dirty="0"/>
          </a:p>
          <a:p>
            <a:pPr marL="285750" indent="-285750">
              <a:buFont typeface="Arial" panose="020B0604020202020204" pitchFamily="34" charset="0"/>
              <a:buChar char="•"/>
            </a:pPr>
            <a:r>
              <a:rPr lang="en-US" altLang="zh-CN" sz="2400" dirty="0"/>
              <a:t>Stack</a:t>
            </a:r>
            <a:r>
              <a:rPr lang="zh-CN" altLang="en-US" sz="2400" dirty="0"/>
              <a:t>：函数调用栈</a:t>
            </a:r>
            <a:endParaRPr lang="en-US" altLang="zh-CN" sz="2400" dirty="0"/>
          </a:p>
          <a:p>
            <a:pPr marL="285750" indent="-285750">
              <a:buFont typeface="Arial" panose="020B0604020202020204" pitchFamily="34" charset="0"/>
              <a:buChar char="•"/>
            </a:pPr>
            <a:r>
              <a:rPr lang="en-US" altLang="zh-CN" sz="2400" dirty="0"/>
              <a:t>web API - </a:t>
            </a:r>
            <a:r>
              <a:rPr lang="zh-CN" altLang="en-US" sz="2400" dirty="0"/>
              <a:t>浏览器开放给</a:t>
            </a:r>
            <a:r>
              <a:rPr lang="en-US" altLang="zh-CN" sz="2400" dirty="0" err="1"/>
              <a:t>js</a:t>
            </a:r>
            <a:r>
              <a:rPr lang="zh-CN" altLang="en-US" sz="2400" dirty="0"/>
              <a:t>的接口，例如网络传输，地理位置获取，摄像头视频获取等等。借助这些</a:t>
            </a:r>
            <a:r>
              <a:rPr lang="en-US" altLang="zh-CN" sz="2400" dirty="0"/>
              <a:t>API</a:t>
            </a:r>
            <a:r>
              <a:rPr lang="zh-CN" altLang="en-US" sz="2400" dirty="0"/>
              <a:t>，</a:t>
            </a:r>
            <a:r>
              <a:rPr lang="en-US" altLang="zh-CN" sz="2400" dirty="0" err="1"/>
              <a:t>js</a:t>
            </a:r>
            <a:r>
              <a:rPr lang="zh-CN" altLang="en-US" sz="2400" dirty="0"/>
              <a:t>就可以实现异步操作的目的了</a:t>
            </a:r>
            <a:endParaRPr lang="en-US" altLang="zh-CN" sz="2400" dirty="0"/>
          </a:p>
          <a:p>
            <a:pPr marL="285750" indent="-285750">
              <a:buFont typeface="Arial" panose="020B0604020202020204" pitchFamily="34" charset="0"/>
              <a:buChar char="•"/>
            </a:pPr>
            <a:r>
              <a:rPr lang="en-US" altLang="zh-CN" sz="2400" dirty="0"/>
              <a:t>callback queue - </a:t>
            </a:r>
            <a:r>
              <a:rPr lang="zh-CN" altLang="en-US" sz="2400" dirty="0"/>
              <a:t>当浏览器完成了指定的任务，就会将回调函数放入任务队列中。任务队列遵循先入先出的规则</a:t>
            </a:r>
          </a:p>
          <a:p>
            <a:pPr marL="285750" indent="-285750">
              <a:buFont typeface="Arial" panose="020B0604020202020204" pitchFamily="34" charset="0"/>
              <a:buChar char="•"/>
            </a:pPr>
            <a:r>
              <a:rPr lang="en-US" altLang="zh-CN" sz="2400" dirty="0"/>
              <a:t>event loop - </a:t>
            </a:r>
            <a:r>
              <a:rPr lang="zh-CN" altLang="en-US" sz="2400" dirty="0"/>
              <a:t>一个进程，专门用来检测函数调用栈空了没有，如果空了，就从任务队列中拿回调函数放入栈中，直到又有新的函数入栈为止，如此反复</a:t>
            </a:r>
          </a:p>
        </p:txBody>
      </p:sp>
    </p:spTree>
    <p:extLst>
      <p:ext uri="{BB962C8B-B14F-4D97-AF65-F5344CB8AC3E}">
        <p14:creationId xmlns:p14="http://schemas.microsoft.com/office/powerpoint/2010/main" val="41760494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E423D8-38DC-5F9C-96D3-D8208580B4C8}"/>
              </a:ext>
            </a:extLst>
          </p:cNvPr>
          <p:cNvSpPr txBox="1">
            <a:spLocks/>
          </p:cNvSpPr>
          <p:nvPr/>
        </p:nvSpPr>
        <p:spPr>
          <a:xfrm>
            <a:off x="436880" y="255587"/>
            <a:ext cx="7985760" cy="699454"/>
          </a:xfrm>
          <a:prstGeom prst="rect">
            <a:avLst/>
          </a:prstGeom>
        </p:spPr>
        <p:txBody>
          <a:bodyPr vert="horz" lIns="91440" tIns="45720" rIns="91440" bIns="45720" rtlCol="0" anchor="b">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zh-CN" altLang="en-US" sz="4000" dirty="0"/>
              <a:t>示例代码</a:t>
            </a:r>
          </a:p>
        </p:txBody>
      </p:sp>
      <p:pic>
        <p:nvPicPr>
          <p:cNvPr id="4" name="Picture 3">
            <a:extLst>
              <a:ext uri="{FF2B5EF4-FFF2-40B4-BE49-F238E27FC236}">
                <a16:creationId xmlns:a16="http://schemas.microsoft.com/office/drawing/2014/main" id="{F01E9640-A34B-882B-8DB6-95368D102838}"/>
              </a:ext>
            </a:extLst>
          </p:cNvPr>
          <p:cNvPicPr>
            <a:picLocks noChangeAspect="1"/>
          </p:cNvPicPr>
          <p:nvPr/>
        </p:nvPicPr>
        <p:blipFill>
          <a:blip r:embed="rId2"/>
          <a:stretch>
            <a:fillRect/>
          </a:stretch>
        </p:blipFill>
        <p:spPr>
          <a:xfrm>
            <a:off x="549642" y="1032378"/>
            <a:ext cx="10348778" cy="5053462"/>
          </a:xfrm>
          <a:prstGeom prst="rect">
            <a:avLst/>
          </a:prstGeom>
        </p:spPr>
      </p:pic>
    </p:spTree>
    <p:extLst>
      <p:ext uri="{BB962C8B-B14F-4D97-AF65-F5344CB8AC3E}">
        <p14:creationId xmlns:p14="http://schemas.microsoft.com/office/powerpoint/2010/main" val="22787186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a:extLst>
              <a:ext uri="{FF2B5EF4-FFF2-40B4-BE49-F238E27FC236}">
                <a16:creationId xmlns:a16="http://schemas.microsoft.com/office/drawing/2014/main" id="{8A1943EB-0A6D-A1BC-C472-56D19E7F440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7948"/>
          <a:stretch/>
        </p:blipFill>
        <p:spPr bwMode="auto">
          <a:xfrm>
            <a:off x="0" y="0"/>
            <a:ext cx="8535514" cy="4972568"/>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959EC27B-1C68-834B-6204-3D61CD172F52}"/>
              </a:ext>
            </a:extLst>
          </p:cNvPr>
          <p:cNvSpPr txBox="1"/>
          <p:nvPr/>
        </p:nvSpPr>
        <p:spPr>
          <a:xfrm>
            <a:off x="9509760" y="304801"/>
            <a:ext cx="2377440" cy="3046988"/>
          </a:xfrm>
          <a:prstGeom prst="rect">
            <a:avLst/>
          </a:prstGeom>
          <a:noFill/>
        </p:spPr>
        <p:txBody>
          <a:bodyPr wrap="square" rtlCol="0">
            <a:spAutoFit/>
          </a:bodyPr>
          <a:lstStyle/>
          <a:p>
            <a:r>
              <a:rPr lang="zh-CN" altLang="en-US" sz="2400" dirty="0"/>
              <a:t>整个脚本入栈，并且获取到</a:t>
            </a:r>
            <a:r>
              <a:rPr lang="en-US" altLang="zh-CN" sz="2400" dirty="0"/>
              <a:t>button</a:t>
            </a:r>
            <a:r>
              <a:rPr lang="zh-CN" altLang="en-US" sz="2400" dirty="0"/>
              <a:t>对象。然后执行到</a:t>
            </a:r>
            <a:r>
              <a:rPr lang="en-US" altLang="zh-CN" sz="2400" dirty="0"/>
              <a:t>onclick</a:t>
            </a:r>
            <a:r>
              <a:rPr lang="zh-CN" altLang="en-US" sz="2400" dirty="0"/>
              <a:t>的时候发现是点击事件，是异步操作，于是丢给浏览器去处理</a:t>
            </a:r>
          </a:p>
        </p:txBody>
      </p:sp>
      <p:pic>
        <p:nvPicPr>
          <p:cNvPr id="6" name="Picture 5">
            <a:extLst>
              <a:ext uri="{FF2B5EF4-FFF2-40B4-BE49-F238E27FC236}">
                <a16:creationId xmlns:a16="http://schemas.microsoft.com/office/drawing/2014/main" id="{5D8F5399-E5FC-BA0C-CB4A-E45404D83B0E}"/>
              </a:ext>
            </a:extLst>
          </p:cNvPr>
          <p:cNvPicPr>
            <a:picLocks noChangeAspect="1"/>
          </p:cNvPicPr>
          <p:nvPr/>
        </p:nvPicPr>
        <p:blipFill>
          <a:blip r:embed="rId3"/>
          <a:stretch>
            <a:fillRect/>
          </a:stretch>
        </p:blipFill>
        <p:spPr>
          <a:xfrm>
            <a:off x="7694960" y="4267200"/>
            <a:ext cx="4497040" cy="2590800"/>
          </a:xfrm>
          <a:prstGeom prst="rect">
            <a:avLst/>
          </a:prstGeom>
        </p:spPr>
      </p:pic>
    </p:spTree>
    <p:extLst>
      <p:ext uri="{BB962C8B-B14F-4D97-AF65-F5344CB8AC3E}">
        <p14:creationId xmlns:p14="http://schemas.microsoft.com/office/powerpoint/2010/main" val="42589095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59EC27B-1C68-834B-6204-3D61CD172F52}"/>
              </a:ext>
            </a:extLst>
          </p:cNvPr>
          <p:cNvSpPr txBox="1"/>
          <p:nvPr/>
        </p:nvSpPr>
        <p:spPr>
          <a:xfrm>
            <a:off x="9519920" y="741681"/>
            <a:ext cx="2245360" cy="954107"/>
          </a:xfrm>
          <a:prstGeom prst="rect">
            <a:avLst/>
          </a:prstGeom>
          <a:noFill/>
        </p:spPr>
        <p:txBody>
          <a:bodyPr wrap="square" rtlCol="0">
            <a:spAutoFit/>
          </a:bodyPr>
          <a:lstStyle/>
          <a:p>
            <a:r>
              <a:rPr lang="zh-CN" altLang="en-US" sz="2800" dirty="0"/>
              <a:t>直接执行打印</a:t>
            </a:r>
            <a:r>
              <a:rPr lang="en-US" altLang="zh-CN" sz="2800" dirty="0"/>
              <a:t>1</a:t>
            </a:r>
            <a:r>
              <a:rPr lang="zh-CN" altLang="en-US" sz="2800" dirty="0"/>
              <a:t>的操作</a:t>
            </a:r>
          </a:p>
        </p:txBody>
      </p:sp>
      <p:pic>
        <p:nvPicPr>
          <p:cNvPr id="7170" name="Picture 2">
            <a:extLst>
              <a:ext uri="{FF2B5EF4-FFF2-40B4-BE49-F238E27FC236}">
                <a16:creationId xmlns:a16="http://schemas.microsoft.com/office/drawing/2014/main" id="{465A92F5-EEB6-079E-C7F8-DDDFF781D59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6870"/>
          <a:stretch/>
        </p:blipFill>
        <p:spPr bwMode="auto">
          <a:xfrm>
            <a:off x="0" y="0"/>
            <a:ext cx="8646160" cy="5096013"/>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1">
            <a:extLst>
              <a:ext uri="{FF2B5EF4-FFF2-40B4-BE49-F238E27FC236}">
                <a16:creationId xmlns:a16="http://schemas.microsoft.com/office/drawing/2014/main" id="{9708F1EC-2FF5-CEF6-72DF-EF23B76EB5BE}"/>
              </a:ext>
            </a:extLst>
          </p:cNvPr>
          <p:cNvPicPr>
            <a:picLocks noChangeAspect="1"/>
          </p:cNvPicPr>
          <p:nvPr/>
        </p:nvPicPr>
        <p:blipFill>
          <a:blip r:embed="rId3"/>
          <a:stretch>
            <a:fillRect/>
          </a:stretch>
        </p:blipFill>
        <p:spPr>
          <a:xfrm>
            <a:off x="7924221" y="4399280"/>
            <a:ext cx="4267779" cy="2458720"/>
          </a:xfrm>
          <a:prstGeom prst="rect">
            <a:avLst/>
          </a:prstGeom>
        </p:spPr>
      </p:pic>
    </p:spTree>
    <p:extLst>
      <p:ext uri="{BB962C8B-B14F-4D97-AF65-F5344CB8AC3E}">
        <p14:creationId xmlns:p14="http://schemas.microsoft.com/office/powerpoint/2010/main" val="226600928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59EC27B-1C68-834B-6204-3D61CD172F52}"/>
              </a:ext>
            </a:extLst>
          </p:cNvPr>
          <p:cNvSpPr txBox="1"/>
          <p:nvPr/>
        </p:nvSpPr>
        <p:spPr>
          <a:xfrm>
            <a:off x="8920480" y="121921"/>
            <a:ext cx="3078480" cy="2677656"/>
          </a:xfrm>
          <a:prstGeom prst="rect">
            <a:avLst/>
          </a:prstGeom>
          <a:noFill/>
        </p:spPr>
        <p:txBody>
          <a:bodyPr wrap="square" rtlCol="0">
            <a:spAutoFit/>
          </a:bodyPr>
          <a:lstStyle/>
          <a:p>
            <a:r>
              <a:rPr lang="zh-CN" altLang="en-US" sz="2800" dirty="0"/>
              <a:t>又是一个异步的</a:t>
            </a:r>
            <a:r>
              <a:rPr lang="en-US" altLang="zh-CN" sz="2800" dirty="0" err="1"/>
              <a:t>setTimeout</a:t>
            </a:r>
            <a:r>
              <a:rPr lang="zh-CN" altLang="en-US" sz="2800" dirty="0"/>
              <a:t>操作，再次丢给浏览器去处理，浏览器会在</a:t>
            </a:r>
            <a:r>
              <a:rPr lang="en-US" altLang="zh-CN" sz="2800" dirty="0"/>
              <a:t>5</a:t>
            </a:r>
            <a:r>
              <a:rPr lang="zh-CN" altLang="en-US" sz="2800" dirty="0"/>
              <a:t>秒钟后将其放入任务队列</a:t>
            </a:r>
          </a:p>
        </p:txBody>
      </p:sp>
      <p:pic>
        <p:nvPicPr>
          <p:cNvPr id="8194" name="Picture 2">
            <a:extLst>
              <a:ext uri="{FF2B5EF4-FFF2-40B4-BE49-F238E27FC236}">
                <a16:creationId xmlns:a16="http://schemas.microsoft.com/office/drawing/2014/main" id="{2F3DDE81-FD3C-7C9F-77E6-7DA805A4566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6958"/>
          <a:stretch/>
        </p:blipFill>
        <p:spPr bwMode="auto">
          <a:xfrm>
            <a:off x="0" y="0"/>
            <a:ext cx="8768080" cy="5163013"/>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1">
            <a:extLst>
              <a:ext uri="{FF2B5EF4-FFF2-40B4-BE49-F238E27FC236}">
                <a16:creationId xmlns:a16="http://schemas.microsoft.com/office/drawing/2014/main" id="{2478D521-44C1-B0FC-40A9-20026EF0B933}"/>
              </a:ext>
            </a:extLst>
          </p:cNvPr>
          <p:cNvPicPr>
            <a:picLocks noChangeAspect="1"/>
          </p:cNvPicPr>
          <p:nvPr/>
        </p:nvPicPr>
        <p:blipFill>
          <a:blip r:embed="rId3"/>
          <a:stretch>
            <a:fillRect/>
          </a:stretch>
        </p:blipFill>
        <p:spPr>
          <a:xfrm>
            <a:off x="7977126" y="4429760"/>
            <a:ext cx="4214874" cy="2428240"/>
          </a:xfrm>
          <a:prstGeom prst="rect">
            <a:avLst/>
          </a:prstGeom>
        </p:spPr>
      </p:pic>
    </p:spTree>
    <p:extLst>
      <p:ext uri="{BB962C8B-B14F-4D97-AF65-F5344CB8AC3E}">
        <p14:creationId xmlns:p14="http://schemas.microsoft.com/office/powerpoint/2010/main" val="90847783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59EC27B-1C68-834B-6204-3D61CD172F52}"/>
              </a:ext>
            </a:extLst>
          </p:cNvPr>
          <p:cNvSpPr txBox="1"/>
          <p:nvPr/>
        </p:nvSpPr>
        <p:spPr>
          <a:xfrm>
            <a:off x="8920480" y="121921"/>
            <a:ext cx="3078480" cy="954107"/>
          </a:xfrm>
          <a:prstGeom prst="rect">
            <a:avLst/>
          </a:prstGeom>
          <a:noFill/>
        </p:spPr>
        <p:txBody>
          <a:bodyPr wrap="square" rtlCol="0">
            <a:spAutoFit/>
          </a:bodyPr>
          <a:lstStyle/>
          <a:p>
            <a:r>
              <a:rPr lang="zh-CN" altLang="en-US" sz="2800" dirty="0"/>
              <a:t>直接执行打印</a:t>
            </a:r>
            <a:r>
              <a:rPr lang="en-US" altLang="zh-CN" sz="2800" dirty="0"/>
              <a:t>3</a:t>
            </a:r>
            <a:r>
              <a:rPr lang="zh-CN" altLang="en-US" sz="2800" dirty="0"/>
              <a:t>的操作</a:t>
            </a:r>
          </a:p>
        </p:txBody>
      </p:sp>
      <p:pic>
        <p:nvPicPr>
          <p:cNvPr id="9218" name="Picture 2">
            <a:extLst>
              <a:ext uri="{FF2B5EF4-FFF2-40B4-BE49-F238E27FC236}">
                <a16:creationId xmlns:a16="http://schemas.microsoft.com/office/drawing/2014/main" id="{78D08849-B1A9-584A-6756-78BFF756C11C}"/>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7313"/>
          <a:stretch/>
        </p:blipFill>
        <p:spPr bwMode="auto">
          <a:xfrm>
            <a:off x="0" y="0"/>
            <a:ext cx="8781396" cy="5151120"/>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1">
            <a:extLst>
              <a:ext uri="{FF2B5EF4-FFF2-40B4-BE49-F238E27FC236}">
                <a16:creationId xmlns:a16="http://schemas.microsoft.com/office/drawing/2014/main" id="{2478D521-44C1-B0FC-40A9-20026EF0B933}"/>
              </a:ext>
            </a:extLst>
          </p:cNvPr>
          <p:cNvPicPr>
            <a:picLocks noChangeAspect="1"/>
          </p:cNvPicPr>
          <p:nvPr/>
        </p:nvPicPr>
        <p:blipFill>
          <a:blip r:embed="rId3"/>
          <a:stretch>
            <a:fillRect/>
          </a:stretch>
        </p:blipFill>
        <p:spPr>
          <a:xfrm>
            <a:off x="7994763" y="4439920"/>
            <a:ext cx="4197238" cy="2418080"/>
          </a:xfrm>
          <a:prstGeom prst="rect">
            <a:avLst/>
          </a:prstGeom>
        </p:spPr>
      </p:pic>
    </p:spTree>
    <p:extLst>
      <p:ext uri="{BB962C8B-B14F-4D97-AF65-F5344CB8AC3E}">
        <p14:creationId xmlns:p14="http://schemas.microsoft.com/office/powerpoint/2010/main" val="178838425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59EC27B-1C68-834B-6204-3D61CD172F52}"/>
              </a:ext>
            </a:extLst>
          </p:cNvPr>
          <p:cNvSpPr txBox="1"/>
          <p:nvPr/>
        </p:nvSpPr>
        <p:spPr>
          <a:xfrm>
            <a:off x="8666480" y="121921"/>
            <a:ext cx="3332480" cy="3416320"/>
          </a:xfrm>
          <a:prstGeom prst="rect">
            <a:avLst/>
          </a:prstGeom>
          <a:noFill/>
        </p:spPr>
        <p:txBody>
          <a:bodyPr wrap="square" rtlCol="0">
            <a:spAutoFit/>
          </a:bodyPr>
          <a:lstStyle/>
          <a:p>
            <a:pPr marL="457200" indent="-457200">
              <a:buFont typeface="Arial" panose="020B0604020202020204" pitchFamily="34" charset="0"/>
              <a:buChar char="•"/>
            </a:pPr>
            <a:r>
              <a:rPr lang="zh-CN" altLang="en-US" sz="2400" dirty="0"/>
              <a:t> 所有的同步任务都执行完成，脚本退出，整个栈空了。</a:t>
            </a:r>
            <a:endParaRPr lang="en-US" altLang="zh-CN" sz="2400" dirty="0"/>
          </a:p>
          <a:p>
            <a:pPr marL="457200" indent="-457200">
              <a:buFont typeface="Arial" panose="020B0604020202020204" pitchFamily="34" charset="0"/>
              <a:buChar char="•"/>
            </a:pPr>
            <a:r>
              <a:rPr lang="zh-CN" altLang="en-US" sz="2400" dirty="0"/>
              <a:t>到此耗时是毫秒级别的。</a:t>
            </a:r>
            <a:endParaRPr lang="en-US" altLang="zh-CN" sz="2400" dirty="0"/>
          </a:p>
          <a:p>
            <a:pPr marL="457200" indent="-457200">
              <a:buFont typeface="Arial" panose="020B0604020202020204" pitchFamily="34" charset="0"/>
              <a:buChar char="•"/>
            </a:pPr>
            <a:r>
              <a:rPr lang="zh-CN" altLang="en-US" sz="2400" dirty="0"/>
              <a:t>点击了按钮，触发了</a:t>
            </a:r>
            <a:r>
              <a:rPr lang="en-US" altLang="zh-CN" sz="2400" dirty="0"/>
              <a:t>onclick</a:t>
            </a:r>
            <a:r>
              <a:rPr lang="zh-CN" altLang="en-US" sz="2400" dirty="0"/>
              <a:t>事件的回调函数，其被放入任务队列</a:t>
            </a:r>
          </a:p>
        </p:txBody>
      </p:sp>
      <p:pic>
        <p:nvPicPr>
          <p:cNvPr id="10242" name="Picture 2">
            <a:extLst>
              <a:ext uri="{FF2B5EF4-FFF2-40B4-BE49-F238E27FC236}">
                <a16:creationId xmlns:a16="http://schemas.microsoft.com/office/drawing/2014/main" id="{1159FFA6-9C6C-8885-A7B7-C72E45A0072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7630"/>
          <a:stretch/>
        </p:blipFill>
        <p:spPr bwMode="auto">
          <a:xfrm>
            <a:off x="0" y="0"/>
            <a:ext cx="8533541" cy="4988560"/>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1">
            <a:extLst>
              <a:ext uri="{FF2B5EF4-FFF2-40B4-BE49-F238E27FC236}">
                <a16:creationId xmlns:a16="http://schemas.microsoft.com/office/drawing/2014/main" id="{2478D521-44C1-B0FC-40A9-20026EF0B933}"/>
              </a:ext>
            </a:extLst>
          </p:cNvPr>
          <p:cNvPicPr>
            <a:picLocks noChangeAspect="1"/>
          </p:cNvPicPr>
          <p:nvPr/>
        </p:nvPicPr>
        <p:blipFill>
          <a:blip r:embed="rId3"/>
          <a:stretch>
            <a:fillRect/>
          </a:stretch>
        </p:blipFill>
        <p:spPr>
          <a:xfrm>
            <a:off x="7994763" y="4439920"/>
            <a:ext cx="4197238" cy="2418080"/>
          </a:xfrm>
          <a:prstGeom prst="rect">
            <a:avLst/>
          </a:prstGeom>
        </p:spPr>
      </p:pic>
    </p:spTree>
    <p:extLst>
      <p:ext uri="{BB962C8B-B14F-4D97-AF65-F5344CB8AC3E}">
        <p14:creationId xmlns:p14="http://schemas.microsoft.com/office/powerpoint/2010/main" val="326028545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59EC27B-1C68-834B-6204-3D61CD172F52}"/>
              </a:ext>
            </a:extLst>
          </p:cNvPr>
          <p:cNvSpPr txBox="1"/>
          <p:nvPr/>
        </p:nvSpPr>
        <p:spPr>
          <a:xfrm>
            <a:off x="8666480" y="213361"/>
            <a:ext cx="3332480" cy="1569660"/>
          </a:xfrm>
          <a:prstGeom prst="rect">
            <a:avLst/>
          </a:prstGeom>
          <a:noFill/>
        </p:spPr>
        <p:txBody>
          <a:bodyPr wrap="square" rtlCol="0">
            <a:spAutoFit/>
          </a:bodyPr>
          <a:lstStyle/>
          <a:p>
            <a:pPr marL="457200" indent="-457200">
              <a:buFont typeface="Arial" panose="020B0604020202020204" pitchFamily="34" charset="0"/>
              <a:buChar char="•"/>
            </a:pPr>
            <a:r>
              <a:rPr lang="zh-CN" altLang="en-US" sz="2400" dirty="0"/>
              <a:t>事件循环检测到栈是空的，于是将任务队列中的下一个任务放入栈执行</a:t>
            </a:r>
          </a:p>
        </p:txBody>
      </p:sp>
      <p:pic>
        <p:nvPicPr>
          <p:cNvPr id="11266" name="Picture 2">
            <a:extLst>
              <a:ext uri="{FF2B5EF4-FFF2-40B4-BE49-F238E27FC236}">
                <a16:creationId xmlns:a16="http://schemas.microsoft.com/office/drawing/2014/main" id="{279DA62A-8493-C2E5-7371-7DA2379B037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8741"/>
          <a:stretch/>
        </p:blipFill>
        <p:spPr bwMode="auto">
          <a:xfrm>
            <a:off x="0" y="0"/>
            <a:ext cx="8479033" cy="4897120"/>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1">
            <a:extLst>
              <a:ext uri="{FF2B5EF4-FFF2-40B4-BE49-F238E27FC236}">
                <a16:creationId xmlns:a16="http://schemas.microsoft.com/office/drawing/2014/main" id="{2478D521-44C1-B0FC-40A9-20026EF0B933}"/>
              </a:ext>
            </a:extLst>
          </p:cNvPr>
          <p:cNvPicPr>
            <a:picLocks noChangeAspect="1"/>
          </p:cNvPicPr>
          <p:nvPr/>
        </p:nvPicPr>
        <p:blipFill>
          <a:blip r:embed="rId3"/>
          <a:stretch>
            <a:fillRect/>
          </a:stretch>
        </p:blipFill>
        <p:spPr>
          <a:xfrm>
            <a:off x="7994763" y="4439920"/>
            <a:ext cx="4197238" cy="2418080"/>
          </a:xfrm>
          <a:prstGeom prst="rect">
            <a:avLst/>
          </a:prstGeom>
        </p:spPr>
      </p:pic>
    </p:spTree>
    <p:extLst>
      <p:ext uri="{BB962C8B-B14F-4D97-AF65-F5344CB8AC3E}">
        <p14:creationId xmlns:p14="http://schemas.microsoft.com/office/powerpoint/2010/main" val="279331324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59EC27B-1C68-834B-6204-3D61CD172F52}"/>
              </a:ext>
            </a:extLst>
          </p:cNvPr>
          <p:cNvSpPr txBox="1"/>
          <p:nvPr/>
        </p:nvSpPr>
        <p:spPr>
          <a:xfrm>
            <a:off x="8666480" y="213361"/>
            <a:ext cx="3332480" cy="2308324"/>
          </a:xfrm>
          <a:prstGeom prst="rect">
            <a:avLst/>
          </a:prstGeom>
          <a:noFill/>
        </p:spPr>
        <p:txBody>
          <a:bodyPr wrap="square" rtlCol="0">
            <a:spAutoFit/>
          </a:bodyPr>
          <a:lstStyle/>
          <a:p>
            <a:pPr marL="457200" indent="-457200">
              <a:buFont typeface="Arial" panose="020B0604020202020204" pitchFamily="34" charset="0"/>
              <a:buChar char="•"/>
            </a:pPr>
            <a:r>
              <a:rPr lang="zh-CN" altLang="en-US" sz="2400" dirty="0"/>
              <a:t>到了</a:t>
            </a:r>
            <a:r>
              <a:rPr lang="en-US" altLang="zh-CN" sz="2400" dirty="0"/>
              <a:t>5</a:t>
            </a:r>
            <a:r>
              <a:rPr lang="zh-CN" altLang="en-US" sz="2400" dirty="0"/>
              <a:t>秒钟的时候，</a:t>
            </a:r>
            <a:r>
              <a:rPr lang="en-US" altLang="zh-CN" sz="2400" dirty="0" err="1"/>
              <a:t>setTimeout</a:t>
            </a:r>
            <a:r>
              <a:rPr lang="zh-CN" altLang="en-US" sz="2400" dirty="0"/>
              <a:t>事件触发，回调函数被放入任务队列。同样直接被事件循环放入栈内执行打印</a:t>
            </a:r>
          </a:p>
        </p:txBody>
      </p:sp>
      <p:pic>
        <p:nvPicPr>
          <p:cNvPr id="12290" name="Picture 2">
            <a:extLst>
              <a:ext uri="{FF2B5EF4-FFF2-40B4-BE49-F238E27FC236}">
                <a16:creationId xmlns:a16="http://schemas.microsoft.com/office/drawing/2014/main" id="{1FD7EFB9-2A8A-0249-75A9-DB9B1239B09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8445"/>
          <a:stretch/>
        </p:blipFill>
        <p:spPr bwMode="auto">
          <a:xfrm>
            <a:off x="1" y="0"/>
            <a:ext cx="8829040" cy="5115825"/>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1">
            <a:extLst>
              <a:ext uri="{FF2B5EF4-FFF2-40B4-BE49-F238E27FC236}">
                <a16:creationId xmlns:a16="http://schemas.microsoft.com/office/drawing/2014/main" id="{2478D521-44C1-B0FC-40A9-20026EF0B933}"/>
              </a:ext>
            </a:extLst>
          </p:cNvPr>
          <p:cNvPicPr>
            <a:picLocks noChangeAspect="1"/>
          </p:cNvPicPr>
          <p:nvPr/>
        </p:nvPicPr>
        <p:blipFill>
          <a:blip r:embed="rId3"/>
          <a:stretch>
            <a:fillRect/>
          </a:stretch>
        </p:blipFill>
        <p:spPr>
          <a:xfrm>
            <a:off x="7994763" y="4439920"/>
            <a:ext cx="4197238" cy="2418080"/>
          </a:xfrm>
          <a:prstGeom prst="rect">
            <a:avLst/>
          </a:prstGeom>
        </p:spPr>
      </p:pic>
    </p:spTree>
    <p:extLst>
      <p:ext uri="{BB962C8B-B14F-4D97-AF65-F5344CB8AC3E}">
        <p14:creationId xmlns:p14="http://schemas.microsoft.com/office/powerpoint/2010/main" val="353791750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0108E34-3727-D0A2-9F92-FB6A0BCDDD03}"/>
              </a:ext>
            </a:extLst>
          </p:cNvPr>
          <p:cNvSpPr txBox="1">
            <a:spLocks/>
          </p:cNvSpPr>
          <p:nvPr/>
        </p:nvSpPr>
        <p:spPr>
          <a:xfrm>
            <a:off x="1076960" y="2409506"/>
            <a:ext cx="7985760" cy="1756093"/>
          </a:xfrm>
          <a:prstGeom prst="rect">
            <a:avLst/>
          </a:prstGeom>
        </p:spPr>
        <p:txBody>
          <a:bodyPr vert="horz" lIns="91440" tIns="45720" rIns="91440" bIns="45720" rtlCol="0" anchor="b">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zh-CN" altLang="en-US" sz="4000" dirty="0"/>
              <a:t>代码演示：</a:t>
            </a:r>
            <a:endParaRPr lang="en-US" altLang="zh-CN" sz="4000" dirty="0"/>
          </a:p>
          <a:p>
            <a:r>
              <a:rPr lang="en-US" altLang="zh-CN" sz="4000" dirty="0"/>
              <a:t>async.html</a:t>
            </a:r>
            <a:endParaRPr lang="zh-CN" altLang="en-US" sz="4000" dirty="0"/>
          </a:p>
        </p:txBody>
      </p:sp>
    </p:spTree>
    <p:extLst>
      <p:ext uri="{BB962C8B-B14F-4D97-AF65-F5344CB8AC3E}">
        <p14:creationId xmlns:p14="http://schemas.microsoft.com/office/powerpoint/2010/main" val="301655309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EBA399-C14F-11C4-CEB6-91960777E5EC}"/>
              </a:ext>
            </a:extLst>
          </p:cNvPr>
          <p:cNvSpPr>
            <a:spLocks noGrp="1"/>
          </p:cNvSpPr>
          <p:nvPr>
            <p:ph type="title"/>
          </p:nvPr>
        </p:nvSpPr>
        <p:spPr/>
        <p:txBody>
          <a:bodyPr/>
          <a:lstStyle/>
          <a:p>
            <a:r>
              <a:rPr lang="zh-CN" altLang="en-US" dirty="0"/>
              <a:t>如何使用</a:t>
            </a:r>
            <a:r>
              <a:rPr lang="en-US" altLang="zh-CN" dirty="0"/>
              <a:t>Promise</a:t>
            </a:r>
            <a:endParaRPr lang="zh-CN" altLang="en-US" dirty="0"/>
          </a:p>
        </p:txBody>
      </p:sp>
      <p:sp>
        <p:nvSpPr>
          <p:cNvPr id="3" name="Text Placeholder 2">
            <a:extLst>
              <a:ext uri="{FF2B5EF4-FFF2-40B4-BE49-F238E27FC236}">
                <a16:creationId xmlns:a16="http://schemas.microsoft.com/office/drawing/2014/main" id="{EAB76B08-A474-6BD7-4967-4793D4017504}"/>
              </a:ext>
            </a:extLst>
          </p:cNvPr>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02702446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208DDB-EEA8-0D92-7013-DA5E50634268}"/>
              </a:ext>
            </a:extLst>
          </p:cNvPr>
          <p:cNvSpPr>
            <a:spLocks noGrp="1"/>
          </p:cNvSpPr>
          <p:nvPr>
            <p:ph type="title" idx="4294967295"/>
          </p:nvPr>
        </p:nvSpPr>
        <p:spPr>
          <a:xfrm>
            <a:off x="436880" y="255587"/>
            <a:ext cx="7985760" cy="699454"/>
          </a:xfrm>
        </p:spPr>
        <p:txBody>
          <a:bodyPr>
            <a:normAutofit/>
          </a:bodyPr>
          <a:lstStyle/>
          <a:p>
            <a:r>
              <a:rPr lang="en-US" altLang="zh-CN" sz="4000" dirty="0"/>
              <a:t>Promise </a:t>
            </a:r>
            <a:endParaRPr lang="zh-CN" altLang="en-US" sz="4000" dirty="0"/>
          </a:p>
        </p:txBody>
      </p:sp>
      <p:sp>
        <p:nvSpPr>
          <p:cNvPr id="6" name="Content Placeholder 2">
            <a:extLst>
              <a:ext uri="{FF2B5EF4-FFF2-40B4-BE49-F238E27FC236}">
                <a16:creationId xmlns:a16="http://schemas.microsoft.com/office/drawing/2014/main" id="{CDBB5233-DD74-0EA6-A3BC-A35F86AA2C31}"/>
              </a:ext>
            </a:extLst>
          </p:cNvPr>
          <p:cNvSpPr txBox="1">
            <a:spLocks/>
          </p:cNvSpPr>
          <p:nvPr/>
        </p:nvSpPr>
        <p:spPr>
          <a:xfrm>
            <a:off x="436880" y="1087120"/>
            <a:ext cx="11470640" cy="5100003"/>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br>
              <a:rPr lang="zh-CN" altLang="en-US" sz="2400" b="0" i="0" dirty="0">
                <a:solidFill>
                  <a:srgbClr val="1B1B1B"/>
                </a:solidFill>
                <a:effectLst/>
                <a:latin typeface="Inter"/>
              </a:rPr>
            </a:br>
            <a:endParaRPr lang="zh-CN" altLang="en-US" dirty="0"/>
          </a:p>
        </p:txBody>
      </p:sp>
      <p:sp>
        <p:nvSpPr>
          <p:cNvPr id="3" name="Content Placeholder 2">
            <a:extLst>
              <a:ext uri="{FF2B5EF4-FFF2-40B4-BE49-F238E27FC236}">
                <a16:creationId xmlns:a16="http://schemas.microsoft.com/office/drawing/2014/main" id="{555D46F2-18D0-8027-EA54-65FC11AF2BE7}"/>
              </a:ext>
            </a:extLst>
          </p:cNvPr>
          <p:cNvSpPr txBox="1">
            <a:spLocks/>
          </p:cNvSpPr>
          <p:nvPr/>
        </p:nvSpPr>
        <p:spPr>
          <a:xfrm>
            <a:off x="589280" y="1391921"/>
            <a:ext cx="11470640" cy="4632960"/>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Arial" panose="020B0604020202020204" pitchFamily="34" charset="0"/>
              <a:buChar char="•"/>
            </a:pPr>
            <a:r>
              <a:rPr lang="zh-CN" altLang="en-US" sz="2800" b="1" dirty="0">
                <a:solidFill>
                  <a:srgbClr val="24292F"/>
                </a:solidFill>
                <a:latin typeface="Noto Sans SC"/>
              </a:rPr>
              <a:t>现代 </a:t>
            </a:r>
            <a:r>
              <a:rPr lang="en-GB" altLang="zh-CN" sz="2800" b="1" dirty="0">
                <a:solidFill>
                  <a:srgbClr val="24292F"/>
                </a:solidFill>
                <a:latin typeface="Noto Sans SC"/>
              </a:rPr>
              <a:t>JavaScript </a:t>
            </a:r>
            <a:r>
              <a:rPr lang="zh-CN" altLang="en-US" sz="2800" b="1" dirty="0">
                <a:solidFill>
                  <a:srgbClr val="24292F"/>
                </a:solidFill>
                <a:latin typeface="Noto Sans SC"/>
              </a:rPr>
              <a:t>中异步编程的基础</a:t>
            </a:r>
            <a:endParaRPr lang="en-US" altLang="zh-CN" sz="2800" b="1" dirty="0">
              <a:solidFill>
                <a:srgbClr val="24292F"/>
              </a:solidFill>
              <a:latin typeface="Noto Sans SC"/>
            </a:endParaRPr>
          </a:p>
          <a:p>
            <a:pPr>
              <a:buFont typeface="Arial" panose="020B0604020202020204" pitchFamily="34" charset="0"/>
              <a:buChar char="•"/>
            </a:pPr>
            <a:r>
              <a:rPr lang="zh-CN" altLang="en-US" sz="2800" b="1" dirty="0">
                <a:solidFill>
                  <a:srgbClr val="24292F"/>
                </a:solidFill>
                <a:latin typeface="Noto Sans SC"/>
              </a:rPr>
              <a:t>它是一个由异步函数返回的对象，可以指示操作当前所处的状态。</a:t>
            </a:r>
            <a:endParaRPr lang="en-US" altLang="zh-CN" sz="2800" b="1" dirty="0">
              <a:solidFill>
                <a:srgbClr val="24292F"/>
              </a:solidFill>
              <a:latin typeface="Noto Sans SC"/>
            </a:endParaRPr>
          </a:p>
          <a:p>
            <a:pPr>
              <a:buFont typeface="Arial" panose="020B0604020202020204" pitchFamily="34" charset="0"/>
              <a:buChar char="•"/>
            </a:pPr>
            <a:r>
              <a:rPr lang="zh-CN" altLang="en-US" sz="2800" b="1" dirty="0">
                <a:solidFill>
                  <a:srgbClr val="24292F"/>
                </a:solidFill>
                <a:latin typeface="Noto Sans SC"/>
              </a:rPr>
              <a:t>在 </a:t>
            </a:r>
            <a:r>
              <a:rPr lang="en-US" altLang="zh-CN" sz="2800" b="1" dirty="0">
                <a:solidFill>
                  <a:srgbClr val="24292F"/>
                </a:solidFill>
                <a:latin typeface="Noto Sans SC"/>
              </a:rPr>
              <a:t>Promise </a:t>
            </a:r>
            <a:r>
              <a:rPr lang="zh-CN" altLang="en-US" sz="2800" b="1" dirty="0">
                <a:solidFill>
                  <a:srgbClr val="24292F"/>
                </a:solidFill>
                <a:latin typeface="Noto Sans SC"/>
              </a:rPr>
              <a:t>返回给调用者的时候，操作往往还没有完成，但 </a:t>
            </a:r>
            <a:r>
              <a:rPr lang="en-US" altLang="zh-CN" sz="2800" b="1" dirty="0">
                <a:solidFill>
                  <a:srgbClr val="24292F"/>
                </a:solidFill>
                <a:latin typeface="Noto Sans SC"/>
              </a:rPr>
              <a:t>Promise </a:t>
            </a:r>
            <a:r>
              <a:rPr lang="zh-CN" altLang="en-US" sz="2800" b="1" dirty="0">
                <a:solidFill>
                  <a:srgbClr val="24292F"/>
                </a:solidFill>
                <a:latin typeface="Noto Sans SC"/>
              </a:rPr>
              <a:t>对象提供了方法来处理操作最终的成功或失败。</a:t>
            </a:r>
            <a:endParaRPr lang="en-US" altLang="zh-CN" sz="2800" b="1" dirty="0">
              <a:solidFill>
                <a:srgbClr val="24292F"/>
              </a:solidFill>
              <a:latin typeface="Noto Sans SC"/>
            </a:endParaRPr>
          </a:p>
          <a:p>
            <a:pPr>
              <a:buFont typeface="Arial" panose="020B0604020202020204" pitchFamily="34" charset="0"/>
              <a:buChar char="•"/>
            </a:pPr>
            <a:r>
              <a:rPr lang="zh-CN" altLang="en-US" sz="2800" b="1" dirty="0">
                <a:solidFill>
                  <a:srgbClr val="24292F"/>
                </a:solidFill>
                <a:latin typeface="Noto Sans SC"/>
              </a:rPr>
              <a:t>代码演示</a:t>
            </a:r>
            <a:endParaRPr lang="en-US" altLang="zh-CN" sz="2800" b="1" dirty="0">
              <a:solidFill>
                <a:srgbClr val="24292F"/>
              </a:solidFill>
              <a:latin typeface="Noto Sans SC"/>
            </a:endParaRPr>
          </a:p>
          <a:p>
            <a:pPr lvl="1">
              <a:buFont typeface="Arial" panose="020B0604020202020204" pitchFamily="34" charset="0"/>
              <a:buChar char="•"/>
            </a:pPr>
            <a:r>
              <a:rPr lang="en-US" altLang="zh-CN" sz="2600" b="1" dirty="0">
                <a:solidFill>
                  <a:srgbClr val="24292F"/>
                </a:solidFill>
                <a:latin typeface="Noto Sans SC"/>
              </a:rPr>
              <a:t>lesson-04/promise1.js</a:t>
            </a:r>
            <a:r>
              <a:rPr lang="zh-CN" altLang="en-US" sz="2600" b="1" dirty="0">
                <a:solidFill>
                  <a:srgbClr val="24292F"/>
                </a:solidFill>
                <a:latin typeface="Noto Sans SC"/>
              </a:rPr>
              <a:t>。 </a:t>
            </a:r>
            <a:r>
              <a:rPr lang="en-US" altLang="zh-CN" sz="2600" b="1" dirty="0">
                <a:solidFill>
                  <a:srgbClr val="24292F"/>
                </a:solidFill>
                <a:latin typeface="Noto Sans SC"/>
              </a:rPr>
              <a:t>fetch() API : </a:t>
            </a:r>
            <a:r>
              <a:rPr lang="zh-CN" altLang="en-US" sz="2600" b="1" dirty="0">
                <a:solidFill>
                  <a:srgbClr val="24292F"/>
                </a:solidFill>
                <a:latin typeface="Noto Sans SC"/>
              </a:rPr>
              <a:t>一个现代的、基于 </a:t>
            </a:r>
            <a:r>
              <a:rPr lang="en-US" altLang="zh-CN" sz="2600" b="1" dirty="0">
                <a:solidFill>
                  <a:srgbClr val="24292F"/>
                </a:solidFill>
                <a:latin typeface="Noto Sans SC"/>
              </a:rPr>
              <a:t>Promise </a:t>
            </a:r>
            <a:r>
              <a:rPr lang="zh-CN" altLang="en-US" sz="2600" b="1" dirty="0">
                <a:solidFill>
                  <a:srgbClr val="24292F"/>
                </a:solidFill>
                <a:latin typeface="Noto Sans SC"/>
              </a:rPr>
              <a:t>的、用于替代 </a:t>
            </a:r>
            <a:r>
              <a:rPr lang="en-US" altLang="zh-CN" sz="2600" b="1" dirty="0" err="1">
                <a:solidFill>
                  <a:srgbClr val="24292F"/>
                </a:solidFill>
                <a:latin typeface="Noto Sans SC"/>
              </a:rPr>
              <a:t>XMLHttpRequest</a:t>
            </a:r>
            <a:r>
              <a:rPr lang="en-US" altLang="zh-CN" sz="2600" b="1" dirty="0">
                <a:solidFill>
                  <a:srgbClr val="24292F"/>
                </a:solidFill>
                <a:latin typeface="Noto Sans SC"/>
              </a:rPr>
              <a:t> </a:t>
            </a:r>
            <a:r>
              <a:rPr lang="zh-CN" altLang="en-US" sz="2600" b="1" dirty="0">
                <a:solidFill>
                  <a:srgbClr val="24292F"/>
                </a:solidFill>
                <a:latin typeface="Noto Sans SC"/>
              </a:rPr>
              <a:t>的方法。</a:t>
            </a:r>
            <a:endParaRPr lang="en-US" altLang="zh-CN" sz="2600" b="1" dirty="0">
              <a:solidFill>
                <a:srgbClr val="24292F"/>
              </a:solidFill>
              <a:latin typeface="Noto Sans SC"/>
            </a:endParaRPr>
          </a:p>
          <a:p>
            <a:pPr lvl="1">
              <a:buFont typeface="Arial" panose="020B0604020202020204" pitchFamily="34" charset="0"/>
              <a:buChar char="•"/>
            </a:pPr>
            <a:r>
              <a:rPr lang="en-US" altLang="zh-CN" sz="2600" b="1" dirty="0">
                <a:solidFill>
                  <a:srgbClr val="24292F"/>
                </a:solidFill>
                <a:latin typeface="Noto Sans SC"/>
              </a:rPr>
              <a:t>lesson-04/promise2.js </a:t>
            </a:r>
            <a:r>
              <a:rPr lang="zh-CN" altLang="en-US" sz="2600" b="1" dirty="0">
                <a:solidFill>
                  <a:srgbClr val="24292F"/>
                </a:solidFill>
                <a:latin typeface="Noto Sans SC"/>
              </a:rPr>
              <a:t>链式使用</a:t>
            </a:r>
            <a:r>
              <a:rPr lang="en-US" altLang="zh-CN" sz="2600" b="1" dirty="0">
                <a:solidFill>
                  <a:srgbClr val="24292F"/>
                </a:solidFill>
                <a:latin typeface="Noto Sans SC"/>
              </a:rPr>
              <a:t>promise</a:t>
            </a:r>
          </a:p>
          <a:p>
            <a:pPr lvl="1">
              <a:buFont typeface="Arial" panose="020B0604020202020204" pitchFamily="34" charset="0"/>
              <a:buChar char="•"/>
            </a:pPr>
            <a:r>
              <a:rPr lang="en-US" altLang="zh-CN" sz="2600" b="1" dirty="0">
                <a:solidFill>
                  <a:srgbClr val="24292F"/>
                </a:solidFill>
                <a:latin typeface="Noto Sans SC"/>
              </a:rPr>
              <a:t>lesson-04/promise3.js </a:t>
            </a:r>
            <a:r>
              <a:rPr lang="zh-CN" altLang="en-US" sz="2600" b="1" dirty="0">
                <a:solidFill>
                  <a:srgbClr val="24292F"/>
                </a:solidFill>
                <a:latin typeface="Noto Sans SC"/>
              </a:rPr>
              <a:t>错误捕获</a:t>
            </a:r>
            <a:endParaRPr lang="en-US" altLang="zh-CN" sz="2600" b="1" dirty="0">
              <a:solidFill>
                <a:srgbClr val="24292F"/>
              </a:solidFill>
              <a:latin typeface="Noto Sans SC"/>
            </a:endParaRPr>
          </a:p>
        </p:txBody>
      </p:sp>
    </p:spTree>
    <p:extLst>
      <p:ext uri="{BB962C8B-B14F-4D97-AF65-F5344CB8AC3E}">
        <p14:creationId xmlns:p14="http://schemas.microsoft.com/office/powerpoint/2010/main" val="286147871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208DDB-EEA8-0D92-7013-DA5E50634268}"/>
              </a:ext>
            </a:extLst>
          </p:cNvPr>
          <p:cNvSpPr>
            <a:spLocks noGrp="1"/>
          </p:cNvSpPr>
          <p:nvPr>
            <p:ph type="title" idx="4294967295"/>
          </p:nvPr>
        </p:nvSpPr>
        <p:spPr>
          <a:xfrm>
            <a:off x="436880" y="255587"/>
            <a:ext cx="7985760" cy="699454"/>
          </a:xfrm>
        </p:spPr>
        <p:txBody>
          <a:bodyPr>
            <a:normAutofit/>
          </a:bodyPr>
          <a:lstStyle/>
          <a:p>
            <a:r>
              <a:rPr lang="en-US" altLang="zh-CN" sz="4000" dirty="0"/>
              <a:t>Promise </a:t>
            </a:r>
            <a:r>
              <a:rPr lang="zh-CN" altLang="en-US" sz="4000" dirty="0"/>
              <a:t>三种状态</a:t>
            </a:r>
          </a:p>
        </p:txBody>
      </p:sp>
      <p:sp>
        <p:nvSpPr>
          <p:cNvPr id="6" name="Content Placeholder 2">
            <a:extLst>
              <a:ext uri="{FF2B5EF4-FFF2-40B4-BE49-F238E27FC236}">
                <a16:creationId xmlns:a16="http://schemas.microsoft.com/office/drawing/2014/main" id="{CDBB5233-DD74-0EA6-A3BC-A35F86AA2C31}"/>
              </a:ext>
            </a:extLst>
          </p:cNvPr>
          <p:cNvSpPr txBox="1">
            <a:spLocks/>
          </p:cNvSpPr>
          <p:nvPr/>
        </p:nvSpPr>
        <p:spPr>
          <a:xfrm>
            <a:off x="436880" y="1087120"/>
            <a:ext cx="11470640" cy="5100003"/>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br>
              <a:rPr lang="zh-CN" altLang="en-US" sz="2400" b="0" i="0" dirty="0">
                <a:solidFill>
                  <a:srgbClr val="1B1B1B"/>
                </a:solidFill>
                <a:effectLst/>
                <a:latin typeface="Inter"/>
              </a:rPr>
            </a:br>
            <a:endParaRPr lang="zh-CN" altLang="en-US" dirty="0"/>
          </a:p>
        </p:txBody>
      </p:sp>
      <p:sp>
        <p:nvSpPr>
          <p:cNvPr id="3" name="Content Placeholder 2">
            <a:extLst>
              <a:ext uri="{FF2B5EF4-FFF2-40B4-BE49-F238E27FC236}">
                <a16:creationId xmlns:a16="http://schemas.microsoft.com/office/drawing/2014/main" id="{555D46F2-18D0-8027-EA54-65FC11AF2BE7}"/>
              </a:ext>
            </a:extLst>
          </p:cNvPr>
          <p:cNvSpPr txBox="1">
            <a:spLocks/>
          </p:cNvSpPr>
          <p:nvPr/>
        </p:nvSpPr>
        <p:spPr>
          <a:xfrm>
            <a:off x="589280" y="1391921"/>
            <a:ext cx="11470640" cy="4632960"/>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Arial" panose="020B0604020202020204" pitchFamily="34" charset="0"/>
              <a:buChar char="•"/>
            </a:pPr>
            <a:r>
              <a:rPr lang="zh-CN" altLang="en-US" sz="2800" b="1" dirty="0">
                <a:solidFill>
                  <a:srgbClr val="24292F"/>
                </a:solidFill>
                <a:latin typeface="Noto Sans SC"/>
              </a:rPr>
              <a:t>待定（</a:t>
            </a:r>
            <a:r>
              <a:rPr lang="en-US" altLang="zh-CN" sz="2800" b="1" dirty="0">
                <a:solidFill>
                  <a:srgbClr val="24292F"/>
                </a:solidFill>
                <a:latin typeface="Noto Sans SC"/>
              </a:rPr>
              <a:t>pending</a:t>
            </a:r>
            <a:r>
              <a:rPr lang="zh-CN" altLang="en-US" sz="2800" b="1" dirty="0">
                <a:solidFill>
                  <a:srgbClr val="24292F"/>
                </a:solidFill>
                <a:latin typeface="Noto Sans SC"/>
              </a:rPr>
              <a:t>）：初始状态，既没有被兑现，也没有被拒绝。这是调用 </a:t>
            </a:r>
            <a:r>
              <a:rPr lang="en-US" altLang="zh-CN" sz="2800" b="1" dirty="0">
                <a:solidFill>
                  <a:srgbClr val="24292F"/>
                </a:solidFill>
                <a:latin typeface="Noto Sans SC"/>
              </a:rPr>
              <a:t>fetch() </a:t>
            </a:r>
            <a:r>
              <a:rPr lang="zh-CN" altLang="en-US" sz="2800" b="1" dirty="0">
                <a:solidFill>
                  <a:srgbClr val="24292F"/>
                </a:solidFill>
                <a:latin typeface="Noto Sans SC"/>
              </a:rPr>
              <a:t>返回 </a:t>
            </a:r>
            <a:r>
              <a:rPr lang="en-US" altLang="zh-CN" sz="2800" b="1" dirty="0">
                <a:solidFill>
                  <a:srgbClr val="24292F"/>
                </a:solidFill>
                <a:latin typeface="Noto Sans SC"/>
              </a:rPr>
              <a:t>Promise </a:t>
            </a:r>
            <a:r>
              <a:rPr lang="zh-CN" altLang="en-US" sz="2800" b="1" dirty="0">
                <a:solidFill>
                  <a:srgbClr val="24292F"/>
                </a:solidFill>
                <a:latin typeface="Noto Sans SC"/>
              </a:rPr>
              <a:t>时的状态，此时请求还在进行中。</a:t>
            </a:r>
          </a:p>
          <a:p>
            <a:pPr>
              <a:buFont typeface="Arial" panose="020B0604020202020204" pitchFamily="34" charset="0"/>
              <a:buChar char="•"/>
            </a:pPr>
            <a:r>
              <a:rPr lang="zh-CN" altLang="en-US" sz="2800" b="1" dirty="0">
                <a:solidFill>
                  <a:srgbClr val="24292F"/>
                </a:solidFill>
                <a:latin typeface="Noto Sans SC"/>
              </a:rPr>
              <a:t>已兑现（</a:t>
            </a:r>
            <a:r>
              <a:rPr lang="en-US" altLang="zh-CN" sz="2800" b="1" dirty="0">
                <a:solidFill>
                  <a:srgbClr val="24292F"/>
                </a:solidFill>
                <a:latin typeface="Noto Sans SC"/>
              </a:rPr>
              <a:t>fulfilled</a:t>
            </a:r>
            <a:r>
              <a:rPr lang="zh-CN" altLang="en-US" sz="2800" b="1" dirty="0">
                <a:solidFill>
                  <a:srgbClr val="24292F"/>
                </a:solidFill>
                <a:latin typeface="Noto Sans SC"/>
              </a:rPr>
              <a:t>）：意味着操作成功完成。当 </a:t>
            </a:r>
            <a:r>
              <a:rPr lang="en-US" altLang="zh-CN" sz="2800" b="1" dirty="0">
                <a:solidFill>
                  <a:srgbClr val="24292F"/>
                </a:solidFill>
                <a:latin typeface="Noto Sans SC"/>
              </a:rPr>
              <a:t>Promise </a:t>
            </a:r>
            <a:r>
              <a:rPr lang="zh-CN" altLang="en-US" sz="2800" b="1" dirty="0">
                <a:solidFill>
                  <a:srgbClr val="24292F"/>
                </a:solidFill>
                <a:latin typeface="Noto Sans SC"/>
              </a:rPr>
              <a:t>完成时，它的 </a:t>
            </a:r>
            <a:r>
              <a:rPr lang="en-US" altLang="zh-CN" sz="2800" b="1" dirty="0">
                <a:solidFill>
                  <a:srgbClr val="24292F"/>
                </a:solidFill>
                <a:latin typeface="Noto Sans SC"/>
              </a:rPr>
              <a:t>then() </a:t>
            </a:r>
            <a:r>
              <a:rPr lang="zh-CN" altLang="en-US" sz="2800" b="1" dirty="0">
                <a:solidFill>
                  <a:srgbClr val="24292F"/>
                </a:solidFill>
                <a:latin typeface="Noto Sans SC"/>
              </a:rPr>
              <a:t>处理函数被调用。</a:t>
            </a:r>
          </a:p>
          <a:p>
            <a:pPr>
              <a:buFont typeface="Arial" panose="020B0604020202020204" pitchFamily="34" charset="0"/>
              <a:buChar char="•"/>
            </a:pPr>
            <a:r>
              <a:rPr lang="zh-CN" altLang="en-US" sz="2800" b="1" dirty="0">
                <a:solidFill>
                  <a:srgbClr val="24292F"/>
                </a:solidFill>
                <a:latin typeface="Noto Sans SC"/>
              </a:rPr>
              <a:t>已拒绝（</a:t>
            </a:r>
            <a:r>
              <a:rPr lang="en-US" altLang="zh-CN" sz="2800" b="1" dirty="0">
                <a:solidFill>
                  <a:srgbClr val="24292F"/>
                </a:solidFill>
                <a:latin typeface="Noto Sans SC"/>
              </a:rPr>
              <a:t>rejected</a:t>
            </a:r>
            <a:r>
              <a:rPr lang="zh-CN" altLang="en-US" sz="2800" b="1" dirty="0">
                <a:solidFill>
                  <a:srgbClr val="24292F"/>
                </a:solidFill>
                <a:latin typeface="Noto Sans SC"/>
              </a:rPr>
              <a:t>）：意味着操作失败。当一个 </a:t>
            </a:r>
            <a:r>
              <a:rPr lang="en-US" altLang="zh-CN" sz="2800" b="1" dirty="0">
                <a:solidFill>
                  <a:srgbClr val="24292F"/>
                </a:solidFill>
                <a:latin typeface="Noto Sans SC"/>
              </a:rPr>
              <a:t>Promise </a:t>
            </a:r>
            <a:r>
              <a:rPr lang="zh-CN" altLang="en-US" sz="2800" b="1" dirty="0">
                <a:solidFill>
                  <a:srgbClr val="24292F"/>
                </a:solidFill>
                <a:latin typeface="Noto Sans SC"/>
              </a:rPr>
              <a:t>失败时，它的 </a:t>
            </a:r>
            <a:r>
              <a:rPr lang="en-US" altLang="zh-CN" sz="2800" b="1" dirty="0">
                <a:solidFill>
                  <a:srgbClr val="24292F"/>
                </a:solidFill>
                <a:latin typeface="Noto Sans SC"/>
              </a:rPr>
              <a:t>catch() </a:t>
            </a:r>
            <a:r>
              <a:rPr lang="zh-CN" altLang="en-US" sz="2800" b="1" dirty="0">
                <a:solidFill>
                  <a:srgbClr val="24292F"/>
                </a:solidFill>
                <a:latin typeface="Noto Sans SC"/>
              </a:rPr>
              <a:t>处理函数被调用。</a:t>
            </a:r>
            <a:endParaRPr lang="en-US" altLang="zh-CN" sz="2800" b="1" dirty="0">
              <a:solidFill>
                <a:srgbClr val="24292F"/>
              </a:solidFill>
              <a:latin typeface="Noto Sans SC"/>
            </a:endParaRPr>
          </a:p>
          <a:p>
            <a:pPr>
              <a:buFont typeface="Arial" panose="020B0604020202020204" pitchFamily="34" charset="0"/>
              <a:buChar char="•"/>
            </a:pPr>
            <a:r>
              <a:rPr lang="zh-CN" altLang="en-US" sz="2800" b="1" dirty="0">
                <a:solidFill>
                  <a:srgbClr val="24292F"/>
                </a:solidFill>
                <a:latin typeface="Noto Sans SC"/>
              </a:rPr>
              <a:t>两个术语</a:t>
            </a:r>
            <a:endParaRPr lang="en-US" altLang="zh-CN" sz="2800" b="1" dirty="0">
              <a:solidFill>
                <a:srgbClr val="24292F"/>
              </a:solidFill>
              <a:latin typeface="Noto Sans SC"/>
            </a:endParaRPr>
          </a:p>
          <a:p>
            <a:pPr lvl="1">
              <a:buFont typeface="Arial" panose="020B0604020202020204" pitchFamily="34" charset="0"/>
              <a:buChar char="•"/>
            </a:pPr>
            <a:r>
              <a:rPr lang="zh-CN" altLang="en-US" sz="2400" b="1" dirty="0">
                <a:solidFill>
                  <a:srgbClr val="24292F"/>
                </a:solidFill>
                <a:latin typeface="Noto Sans SC"/>
              </a:rPr>
              <a:t>已敲定（</a:t>
            </a:r>
            <a:r>
              <a:rPr lang="en-GB" altLang="zh-CN" sz="2400" b="1" dirty="0">
                <a:solidFill>
                  <a:srgbClr val="24292F"/>
                </a:solidFill>
                <a:latin typeface="Noto Sans SC"/>
              </a:rPr>
              <a:t>settled</a:t>
            </a:r>
            <a:r>
              <a:rPr lang="zh-CN" altLang="en-GB" sz="2400" b="1" dirty="0">
                <a:solidFill>
                  <a:srgbClr val="24292F"/>
                </a:solidFill>
                <a:latin typeface="Noto Sans SC"/>
              </a:rPr>
              <a:t>）</a:t>
            </a:r>
            <a:r>
              <a:rPr lang="zh-CN" altLang="en-US" sz="2400" b="1" dirty="0">
                <a:solidFill>
                  <a:srgbClr val="24292F"/>
                </a:solidFill>
                <a:latin typeface="Noto Sans SC"/>
              </a:rPr>
              <a:t>同时表示已兑现（</a:t>
            </a:r>
            <a:r>
              <a:rPr lang="en-GB" altLang="zh-CN" sz="2400" b="1" dirty="0">
                <a:solidFill>
                  <a:srgbClr val="24292F"/>
                </a:solidFill>
                <a:latin typeface="Noto Sans SC"/>
              </a:rPr>
              <a:t>fulfilled</a:t>
            </a:r>
            <a:r>
              <a:rPr lang="zh-CN" altLang="en-GB" sz="2400" b="1" dirty="0">
                <a:solidFill>
                  <a:srgbClr val="24292F"/>
                </a:solidFill>
                <a:latin typeface="Noto Sans SC"/>
              </a:rPr>
              <a:t>）</a:t>
            </a:r>
            <a:r>
              <a:rPr lang="zh-CN" altLang="en-US" sz="2400" b="1" dirty="0">
                <a:solidFill>
                  <a:srgbClr val="24292F"/>
                </a:solidFill>
                <a:latin typeface="Noto Sans SC"/>
              </a:rPr>
              <a:t>和已拒绝（</a:t>
            </a:r>
            <a:r>
              <a:rPr lang="en-GB" altLang="zh-CN" sz="2400" b="1" dirty="0">
                <a:solidFill>
                  <a:srgbClr val="24292F"/>
                </a:solidFill>
                <a:latin typeface="Noto Sans SC"/>
              </a:rPr>
              <a:t>rejected</a:t>
            </a:r>
            <a:r>
              <a:rPr lang="zh-CN" altLang="en-GB" sz="2400" b="1" dirty="0">
                <a:solidFill>
                  <a:srgbClr val="24292F"/>
                </a:solidFill>
                <a:latin typeface="Noto Sans SC"/>
              </a:rPr>
              <a:t>）</a:t>
            </a:r>
            <a:r>
              <a:rPr lang="zh-CN" altLang="en-US" sz="2400" b="1" dirty="0">
                <a:solidFill>
                  <a:srgbClr val="24292F"/>
                </a:solidFill>
                <a:latin typeface="Noto Sans SC"/>
              </a:rPr>
              <a:t>两种情况</a:t>
            </a:r>
            <a:endParaRPr lang="en-US" altLang="zh-CN" sz="2400" b="1" dirty="0">
              <a:solidFill>
                <a:srgbClr val="24292F"/>
              </a:solidFill>
              <a:latin typeface="Noto Sans SC"/>
            </a:endParaRPr>
          </a:p>
          <a:p>
            <a:pPr lvl="1">
              <a:buFont typeface="Arial" panose="020B0604020202020204" pitchFamily="34" charset="0"/>
              <a:buChar char="•"/>
            </a:pPr>
            <a:r>
              <a:rPr lang="zh-CN" altLang="en-US" sz="2400" b="1" dirty="0">
                <a:solidFill>
                  <a:srgbClr val="24292F"/>
                </a:solidFill>
                <a:latin typeface="Noto Sans SC"/>
              </a:rPr>
              <a:t>已解决（</a:t>
            </a:r>
            <a:r>
              <a:rPr lang="en-US" altLang="zh-CN" sz="2400" b="1" dirty="0">
                <a:solidFill>
                  <a:srgbClr val="24292F"/>
                </a:solidFill>
                <a:latin typeface="Noto Sans SC"/>
              </a:rPr>
              <a:t>resolved</a:t>
            </a:r>
            <a:r>
              <a:rPr lang="zh-CN" altLang="en-US" sz="2400" b="1" dirty="0">
                <a:solidFill>
                  <a:srgbClr val="24292F"/>
                </a:solidFill>
                <a:latin typeface="Noto Sans SC"/>
              </a:rPr>
              <a:t>）如果一个 </a:t>
            </a:r>
            <a:r>
              <a:rPr lang="en-GB" altLang="zh-CN" sz="2400" b="1" dirty="0">
                <a:solidFill>
                  <a:srgbClr val="24292F"/>
                </a:solidFill>
                <a:latin typeface="Noto Sans SC"/>
              </a:rPr>
              <a:t>Promise </a:t>
            </a:r>
            <a:r>
              <a:rPr lang="zh-CN" altLang="en-US" sz="2400" b="1" dirty="0">
                <a:solidFill>
                  <a:srgbClr val="24292F"/>
                </a:solidFill>
                <a:latin typeface="Noto Sans SC"/>
              </a:rPr>
              <a:t>已敲定，或者如果它被“锁定”以跟随另一个 </a:t>
            </a:r>
            <a:r>
              <a:rPr lang="en-GB" altLang="zh-CN" sz="2400" b="1" dirty="0">
                <a:solidFill>
                  <a:srgbClr val="24292F"/>
                </a:solidFill>
                <a:latin typeface="Noto Sans SC"/>
              </a:rPr>
              <a:t>Promise </a:t>
            </a:r>
            <a:r>
              <a:rPr lang="zh-CN" altLang="en-US" sz="2400" b="1" dirty="0">
                <a:solidFill>
                  <a:srgbClr val="24292F"/>
                </a:solidFill>
                <a:latin typeface="Noto Sans SC"/>
              </a:rPr>
              <a:t>的状态（</a:t>
            </a:r>
            <a:r>
              <a:rPr lang="en-US" altLang="zh-CN" sz="2400" b="1" dirty="0">
                <a:solidFill>
                  <a:srgbClr val="24292F"/>
                </a:solidFill>
                <a:latin typeface="Noto Sans SC"/>
              </a:rPr>
              <a:t>promise</a:t>
            </a:r>
            <a:r>
              <a:rPr lang="zh-CN" altLang="en-US" sz="2400" b="1" dirty="0">
                <a:solidFill>
                  <a:srgbClr val="24292F"/>
                </a:solidFill>
                <a:latin typeface="Noto Sans SC"/>
              </a:rPr>
              <a:t>的返回值为另一个</a:t>
            </a:r>
            <a:r>
              <a:rPr lang="en-US" altLang="zh-CN" sz="2400" b="1" dirty="0">
                <a:solidFill>
                  <a:srgbClr val="24292F"/>
                </a:solidFill>
                <a:latin typeface="Noto Sans SC"/>
              </a:rPr>
              <a:t>promise</a:t>
            </a:r>
            <a:r>
              <a:rPr lang="zh-CN" altLang="en-US" sz="2400" b="1" dirty="0">
                <a:solidFill>
                  <a:srgbClr val="24292F"/>
                </a:solidFill>
                <a:latin typeface="Noto Sans SC"/>
              </a:rPr>
              <a:t>）</a:t>
            </a:r>
            <a:endParaRPr lang="en-US" altLang="zh-CN" sz="2400" b="1" dirty="0">
              <a:solidFill>
                <a:srgbClr val="24292F"/>
              </a:solidFill>
              <a:latin typeface="Noto Sans SC"/>
            </a:endParaRPr>
          </a:p>
        </p:txBody>
      </p:sp>
    </p:spTree>
    <p:extLst>
      <p:ext uri="{BB962C8B-B14F-4D97-AF65-F5344CB8AC3E}">
        <p14:creationId xmlns:p14="http://schemas.microsoft.com/office/powerpoint/2010/main" val="36008879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a:extLst>
              <a:ext uri="{FF2B5EF4-FFF2-40B4-BE49-F238E27FC236}">
                <a16:creationId xmlns:a16="http://schemas.microsoft.com/office/drawing/2014/main" id="{09D52519-E2C7-0785-A9B6-0CFF45E97E4A}"/>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pic>
        <p:nvPicPr>
          <p:cNvPr id="16388" name="Picture 4">
            <a:extLst>
              <a:ext uri="{FF2B5EF4-FFF2-40B4-BE49-F238E27FC236}">
                <a16:creationId xmlns:a16="http://schemas.microsoft.com/office/drawing/2014/main" id="{A17B6DDF-4BE0-DF63-D888-A66BA437131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6410" y="1643380"/>
            <a:ext cx="11228070" cy="4447834"/>
          </a:xfrm>
          <a:prstGeom prst="rect">
            <a:avLst/>
          </a:prstGeom>
          <a:noFill/>
          <a:extLst>
            <a:ext uri="{909E8E84-426E-40DD-AFC4-6F175D3DCCD1}">
              <a14:hiddenFill xmlns:a14="http://schemas.microsoft.com/office/drawing/2010/main">
                <a:solidFill>
                  <a:srgbClr val="FFFFFF"/>
                </a:solidFill>
              </a14:hiddenFill>
            </a:ext>
          </a:extLst>
        </p:spPr>
      </p:pic>
      <p:sp>
        <p:nvSpPr>
          <p:cNvPr id="3" name="Title 1">
            <a:extLst>
              <a:ext uri="{FF2B5EF4-FFF2-40B4-BE49-F238E27FC236}">
                <a16:creationId xmlns:a16="http://schemas.microsoft.com/office/drawing/2014/main" id="{D57BA15C-32C6-B20E-F010-66F81E431762}"/>
              </a:ext>
            </a:extLst>
          </p:cNvPr>
          <p:cNvSpPr txBox="1">
            <a:spLocks/>
          </p:cNvSpPr>
          <p:nvPr/>
        </p:nvSpPr>
        <p:spPr>
          <a:xfrm>
            <a:off x="436880" y="255587"/>
            <a:ext cx="7985760" cy="699454"/>
          </a:xfrm>
          <a:prstGeom prst="rect">
            <a:avLst/>
          </a:prstGeom>
        </p:spPr>
        <p:txBody>
          <a:bodyPr vert="horz" lIns="91440" tIns="45720" rIns="91440" bIns="45720" rtlCol="0" anchor="b">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US" altLang="zh-CN" sz="4000" dirty="0"/>
              <a:t>Promise </a:t>
            </a:r>
            <a:r>
              <a:rPr lang="zh-CN" altLang="en-US" sz="4000" dirty="0"/>
              <a:t>三种状态变化</a:t>
            </a:r>
          </a:p>
        </p:txBody>
      </p:sp>
    </p:spTree>
    <p:extLst>
      <p:ext uri="{BB962C8B-B14F-4D97-AF65-F5344CB8AC3E}">
        <p14:creationId xmlns:p14="http://schemas.microsoft.com/office/powerpoint/2010/main" val="105877688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208DDB-EEA8-0D92-7013-DA5E50634268}"/>
              </a:ext>
            </a:extLst>
          </p:cNvPr>
          <p:cNvSpPr>
            <a:spLocks noGrp="1"/>
          </p:cNvSpPr>
          <p:nvPr>
            <p:ph type="title" idx="4294967295"/>
          </p:nvPr>
        </p:nvSpPr>
        <p:spPr>
          <a:xfrm>
            <a:off x="436880" y="255587"/>
            <a:ext cx="7985760" cy="699454"/>
          </a:xfrm>
        </p:spPr>
        <p:txBody>
          <a:bodyPr>
            <a:normAutofit/>
          </a:bodyPr>
          <a:lstStyle/>
          <a:p>
            <a:r>
              <a:rPr lang="en-US" altLang="zh-CN" sz="4000" dirty="0" err="1"/>
              <a:t>promise.then</a:t>
            </a:r>
            <a:r>
              <a:rPr lang="zh-CN" altLang="en-US" sz="4000" dirty="0"/>
              <a:t>方法</a:t>
            </a:r>
          </a:p>
        </p:txBody>
      </p:sp>
      <p:sp>
        <p:nvSpPr>
          <p:cNvPr id="6" name="Content Placeholder 2">
            <a:extLst>
              <a:ext uri="{FF2B5EF4-FFF2-40B4-BE49-F238E27FC236}">
                <a16:creationId xmlns:a16="http://schemas.microsoft.com/office/drawing/2014/main" id="{CDBB5233-DD74-0EA6-A3BC-A35F86AA2C31}"/>
              </a:ext>
            </a:extLst>
          </p:cNvPr>
          <p:cNvSpPr txBox="1">
            <a:spLocks/>
          </p:cNvSpPr>
          <p:nvPr/>
        </p:nvSpPr>
        <p:spPr>
          <a:xfrm>
            <a:off x="436880" y="1087120"/>
            <a:ext cx="11470640" cy="5100003"/>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br>
              <a:rPr lang="zh-CN" altLang="en-US" sz="2400" b="0" i="0" dirty="0">
                <a:solidFill>
                  <a:srgbClr val="1B1B1B"/>
                </a:solidFill>
                <a:effectLst/>
                <a:latin typeface="Inter"/>
              </a:rPr>
            </a:br>
            <a:endParaRPr lang="zh-CN" altLang="en-US" dirty="0"/>
          </a:p>
        </p:txBody>
      </p:sp>
      <p:pic>
        <p:nvPicPr>
          <p:cNvPr id="5" name="Picture 4">
            <a:extLst>
              <a:ext uri="{FF2B5EF4-FFF2-40B4-BE49-F238E27FC236}">
                <a16:creationId xmlns:a16="http://schemas.microsoft.com/office/drawing/2014/main" id="{14E7D637-7221-9803-6A6B-3294376EA7B7}"/>
              </a:ext>
            </a:extLst>
          </p:cNvPr>
          <p:cNvPicPr>
            <a:picLocks noChangeAspect="1"/>
          </p:cNvPicPr>
          <p:nvPr/>
        </p:nvPicPr>
        <p:blipFill>
          <a:blip r:embed="rId2"/>
          <a:stretch>
            <a:fillRect/>
          </a:stretch>
        </p:blipFill>
        <p:spPr>
          <a:xfrm>
            <a:off x="568658" y="1165734"/>
            <a:ext cx="9804701" cy="4063791"/>
          </a:xfrm>
          <a:prstGeom prst="rect">
            <a:avLst/>
          </a:prstGeom>
        </p:spPr>
      </p:pic>
    </p:spTree>
    <p:extLst>
      <p:ext uri="{BB962C8B-B14F-4D97-AF65-F5344CB8AC3E}">
        <p14:creationId xmlns:p14="http://schemas.microsoft.com/office/powerpoint/2010/main" val="336494757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208DDB-EEA8-0D92-7013-DA5E50634268}"/>
              </a:ext>
            </a:extLst>
          </p:cNvPr>
          <p:cNvSpPr>
            <a:spLocks noGrp="1"/>
          </p:cNvSpPr>
          <p:nvPr>
            <p:ph type="title" idx="4294967295"/>
          </p:nvPr>
        </p:nvSpPr>
        <p:spPr>
          <a:xfrm>
            <a:off x="436880" y="255587"/>
            <a:ext cx="7985760" cy="699454"/>
          </a:xfrm>
        </p:spPr>
        <p:txBody>
          <a:bodyPr>
            <a:normAutofit/>
          </a:bodyPr>
          <a:lstStyle/>
          <a:p>
            <a:r>
              <a:rPr lang="en-US" altLang="zh-CN" sz="4000" dirty="0" err="1"/>
              <a:t>promise.then</a:t>
            </a:r>
            <a:r>
              <a:rPr lang="zh-CN" altLang="en-US" sz="4000" dirty="0"/>
              <a:t>方法</a:t>
            </a:r>
          </a:p>
        </p:txBody>
      </p:sp>
      <p:sp>
        <p:nvSpPr>
          <p:cNvPr id="6" name="Content Placeholder 2">
            <a:extLst>
              <a:ext uri="{FF2B5EF4-FFF2-40B4-BE49-F238E27FC236}">
                <a16:creationId xmlns:a16="http://schemas.microsoft.com/office/drawing/2014/main" id="{CDBB5233-DD74-0EA6-A3BC-A35F86AA2C31}"/>
              </a:ext>
            </a:extLst>
          </p:cNvPr>
          <p:cNvSpPr txBox="1">
            <a:spLocks/>
          </p:cNvSpPr>
          <p:nvPr/>
        </p:nvSpPr>
        <p:spPr>
          <a:xfrm>
            <a:off x="436880" y="1087120"/>
            <a:ext cx="11470640" cy="5100003"/>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br>
              <a:rPr lang="zh-CN" altLang="en-US" sz="2400" b="0" i="0" dirty="0">
                <a:solidFill>
                  <a:srgbClr val="1B1B1B"/>
                </a:solidFill>
                <a:effectLst/>
                <a:latin typeface="Inter"/>
              </a:rPr>
            </a:br>
            <a:endParaRPr lang="zh-CN" altLang="en-US" dirty="0"/>
          </a:p>
        </p:txBody>
      </p:sp>
      <p:pic>
        <p:nvPicPr>
          <p:cNvPr id="4" name="Picture 3">
            <a:extLst>
              <a:ext uri="{FF2B5EF4-FFF2-40B4-BE49-F238E27FC236}">
                <a16:creationId xmlns:a16="http://schemas.microsoft.com/office/drawing/2014/main" id="{92739AB7-AD74-EA04-306A-102E0595923B}"/>
              </a:ext>
            </a:extLst>
          </p:cNvPr>
          <p:cNvPicPr>
            <a:picLocks noChangeAspect="1"/>
          </p:cNvPicPr>
          <p:nvPr/>
        </p:nvPicPr>
        <p:blipFill>
          <a:blip r:embed="rId2"/>
          <a:stretch>
            <a:fillRect/>
          </a:stretch>
        </p:blipFill>
        <p:spPr>
          <a:xfrm>
            <a:off x="436880" y="1341036"/>
            <a:ext cx="10533478" cy="2936323"/>
          </a:xfrm>
          <a:prstGeom prst="rect">
            <a:avLst/>
          </a:prstGeom>
        </p:spPr>
      </p:pic>
    </p:spTree>
    <p:extLst>
      <p:ext uri="{BB962C8B-B14F-4D97-AF65-F5344CB8AC3E}">
        <p14:creationId xmlns:p14="http://schemas.microsoft.com/office/powerpoint/2010/main" val="319233108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208DDB-EEA8-0D92-7013-DA5E50634268}"/>
              </a:ext>
            </a:extLst>
          </p:cNvPr>
          <p:cNvSpPr>
            <a:spLocks noGrp="1"/>
          </p:cNvSpPr>
          <p:nvPr>
            <p:ph type="title" idx="4294967295"/>
          </p:nvPr>
        </p:nvSpPr>
        <p:spPr>
          <a:xfrm>
            <a:off x="436880" y="255587"/>
            <a:ext cx="7985760" cy="699454"/>
          </a:xfrm>
        </p:spPr>
        <p:txBody>
          <a:bodyPr>
            <a:normAutofit/>
          </a:bodyPr>
          <a:lstStyle/>
          <a:p>
            <a:r>
              <a:rPr lang="en-US" altLang="zh-CN" sz="4000" dirty="0" err="1"/>
              <a:t>promise.catch</a:t>
            </a:r>
            <a:r>
              <a:rPr lang="zh-CN" altLang="en-US" sz="4000" dirty="0"/>
              <a:t>方法</a:t>
            </a:r>
          </a:p>
        </p:txBody>
      </p:sp>
      <p:sp>
        <p:nvSpPr>
          <p:cNvPr id="6" name="Content Placeholder 2">
            <a:extLst>
              <a:ext uri="{FF2B5EF4-FFF2-40B4-BE49-F238E27FC236}">
                <a16:creationId xmlns:a16="http://schemas.microsoft.com/office/drawing/2014/main" id="{CDBB5233-DD74-0EA6-A3BC-A35F86AA2C31}"/>
              </a:ext>
            </a:extLst>
          </p:cNvPr>
          <p:cNvSpPr txBox="1">
            <a:spLocks/>
          </p:cNvSpPr>
          <p:nvPr/>
        </p:nvSpPr>
        <p:spPr>
          <a:xfrm>
            <a:off x="436880" y="1087120"/>
            <a:ext cx="11470640" cy="5100003"/>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br>
              <a:rPr lang="zh-CN" altLang="en-US" sz="2400" b="0" i="0" dirty="0">
                <a:solidFill>
                  <a:srgbClr val="1B1B1B"/>
                </a:solidFill>
                <a:effectLst/>
                <a:latin typeface="Inter"/>
              </a:rPr>
            </a:br>
            <a:endParaRPr lang="zh-CN" altLang="en-US" dirty="0"/>
          </a:p>
        </p:txBody>
      </p:sp>
      <p:pic>
        <p:nvPicPr>
          <p:cNvPr id="4" name="Picture 3">
            <a:extLst>
              <a:ext uri="{FF2B5EF4-FFF2-40B4-BE49-F238E27FC236}">
                <a16:creationId xmlns:a16="http://schemas.microsoft.com/office/drawing/2014/main" id="{D8AFD131-7486-66DE-53D3-641263872CE0}"/>
              </a:ext>
            </a:extLst>
          </p:cNvPr>
          <p:cNvPicPr>
            <a:picLocks noChangeAspect="1"/>
          </p:cNvPicPr>
          <p:nvPr/>
        </p:nvPicPr>
        <p:blipFill>
          <a:blip r:embed="rId2"/>
          <a:stretch>
            <a:fillRect/>
          </a:stretch>
        </p:blipFill>
        <p:spPr>
          <a:xfrm>
            <a:off x="539470" y="1254760"/>
            <a:ext cx="11518699" cy="4348480"/>
          </a:xfrm>
          <a:prstGeom prst="rect">
            <a:avLst/>
          </a:prstGeom>
        </p:spPr>
      </p:pic>
      <p:pic>
        <p:nvPicPr>
          <p:cNvPr id="8" name="Picture 7">
            <a:extLst>
              <a:ext uri="{FF2B5EF4-FFF2-40B4-BE49-F238E27FC236}">
                <a16:creationId xmlns:a16="http://schemas.microsoft.com/office/drawing/2014/main" id="{ED90EFC4-460B-C059-9C2F-D8EA2F1AD3B6}"/>
              </a:ext>
            </a:extLst>
          </p:cNvPr>
          <p:cNvPicPr>
            <a:picLocks noChangeAspect="1"/>
          </p:cNvPicPr>
          <p:nvPr/>
        </p:nvPicPr>
        <p:blipFill>
          <a:blip r:embed="rId3"/>
          <a:stretch>
            <a:fillRect/>
          </a:stretch>
        </p:blipFill>
        <p:spPr>
          <a:xfrm>
            <a:off x="7316217" y="2487898"/>
            <a:ext cx="4741952" cy="1403382"/>
          </a:xfrm>
          <a:prstGeom prst="rect">
            <a:avLst/>
          </a:prstGeom>
        </p:spPr>
      </p:pic>
    </p:spTree>
    <p:extLst>
      <p:ext uri="{BB962C8B-B14F-4D97-AF65-F5344CB8AC3E}">
        <p14:creationId xmlns:p14="http://schemas.microsoft.com/office/powerpoint/2010/main" val="212512227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208DDB-EEA8-0D92-7013-DA5E50634268}"/>
              </a:ext>
            </a:extLst>
          </p:cNvPr>
          <p:cNvSpPr>
            <a:spLocks noGrp="1"/>
          </p:cNvSpPr>
          <p:nvPr>
            <p:ph type="title" idx="4294967295"/>
          </p:nvPr>
        </p:nvSpPr>
        <p:spPr>
          <a:xfrm>
            <a:off x="436880" y="255587"/>
            <a:ext cx="7985760" cy="699454"/>
          </a:xfrm>
        </p:spPr>
        <p:txBody>
          <a:bodyPr>
            <a:normAutofit/>
          </a:bodyPr>
          <a:lstStyle/>
          <a:p>
            <a:r>
              <a:rPr lang="zh-CN" altLang="en-US" sz="4000" dirty="0"/>
              <a:t>合并使用多个 </a:t>
            </a:r>
            <a:r>
              <a:rPr lang="en-US" altLang="zh-CN" sz="4000" dirty="0"/>
              <a:t>Promise</a:t>
            </a:r>
            <a:endParaRPr lang="zh-CN" altLang="en-US" sz="4000" dirty="0"/>
          </a:p>
        </p:txBody>
      </p:sp>
      <p:sp>
        <p:nvSpPr>
          <p:cNvPr id="6" name="Content Placeholder 2">
            <a:extLst>
              <a:ext uri="{FF2B5EF4-FFF2-40B4-BE49-F238E27FC236}">
                <a16:creationId xmlns:a16="http://schemas.microsoft.com/office/drawing/2014/main" id="{CDBB5233-DD74-0EA6-A3BC-A35F86AA2C31}"/>
              </a:ext>
            </a:extLst>
          </p:cNvPr>
          <p:cNvSpPr txBox="1">
            <a:spLocks/>
          </p:cNvSpPr>
          <p:nvPr/>
        </p:nvSpPr>
        <p:spPr>
          <a:xfrm>
            <a:off x="436880" y="1087120"/>
            <a:ext cx="11470640" cy="5100003"/>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br>
              <a:rPr lang="zh-CN" altLang="en-US" sz="2400" b="0" i="0" dirty="0">
                <a:solidFill>
                  <a:srgbClr val="1B1B1B"/>
                </a:solidFill>
                <a:effectLst/>
                <a:latin typeface="Inter"/>
              </a:rPr>
            </a:br>
            <a:endParaRPr lang="zh-CN" altLang="en-US" dirty="0"/>
          </a:p>
        </p:txBody>
      </p:sp>
      <p:sp>
        <p:nvSpPr>
          <p:cNvPr id="3" name="Content Placeholder 2">
            <a:extLst>
              <a:ext uri="{FF2B5EF4-FFF2-40B4-BE49-F238E27FC236}">
                <a16:creationId xmlns:a16="http://schemas.microsoft.com/office/drawing/2014/main" id="{555D46F2-18D0-8027-EA54-65FC11AF2BE7}"/>
              </a:ext>
            </a:extLst>
          </p:cNvPr>
          <p:cNvSpPr txBox="1">
            <a:spLocks/>
          </p:cNvSpPr>
          <p:nvPr/>
        </p:nvSpPr>
        <p:spPr>
          <a:xfrm>
            <a:off x="589280" y="1391920"/>
            <a:ext cx="11470640" cy="4927281"/>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Arial" panose="020B0604020202020204" pitchFamily="34" charset="0"/>
              <a:buChar char="•"/>
            </a:pPr>
            <a:r>
              <a:rPr lang="en-US" altLang="zh-CN" sz="3200" b="1" dirty="0" err="1">
                <a:solidFill>
                  <a:srgbClr val="24292F"/>
                </a:solidFill>
                <a:latin typeface="Noto Sans SC"/>
              </a:rPr>
              <a:t>Promise.all</a:t>
            </a:r>
            <a:r>
              <a:rPr lang="en-US" altLang="zh-CN" sz="3200" b="1" dirty="0">
                <a:solidFill>
                  <a:srgbClr val="24292F"/>
                </a:solidFill>
                <a:latin typeface="Noto Sans SC"/>
              </a:rPr>
              <a:t>()</a:t>
            </a:r>
          </a:p>
          <a:p>
            <a:pPr lvl="1">
              <a:buFont typeface="Arial" panose="020B0604020202020204" pitchFamily="34" charset="0"/>
              <a:buChar char="•"/>
            </a:pPr>
            <a:r>
              <a:rPr lang="zh-CN" altLang="en-US" sz="2800" b="1" dirty="0">
                <a:solidFill>
                  <a:srgbClr val="24292F"/>
                </a:solidFill>
                <a:latin typeface="Noto Sans SC"/>
              </a:rPr>
              <a:t>接收一个 </a:t>
            </a:r>
            <a:r>
              <a:rPr lang="en-US" altLang="zh-CN" sz="2800" b="1" dirty="0">
                <a:solidFill>
                  <a:srgbClr val="24292F"/>
                </a:solidFill>
                <a:latin typeface="Noto Sans SC"/>
              </a:rPr>
              <a:t>Promise </a:t>
            </a:r>
            <a:r>
              <a:rPr lang="zh-CN" altLang="en-US" sz="2800" b="1" dirty="0">
                <a:solidFill>
                  <a:srgbClr val="24292F"/>
                </a:solidFill>
                <a:latin typeface="Noto Sans SC"/>
              </a:rPr>
              <a:t>数组，并返回一个单一的 </a:t>
            </a:r>
            <a:r>
              <a:rPr lang="en-US" altLang="zh-CN" sz="2800" b="1" dirty="0">
                <a:solidFill>
                  <a:srgbClr val="24292F"/>
                </a:solidFill>
                <a:latin typeface="Noto Sans SC"/>
              </a:rPr>
              <a:t>Promise</a:t>
            </a:r>
            <a:r>
              <a:rPr lang="zh-CN" altLang="en-US" sz="2800" b="1" dirty="0">
                <a:solidFill>
                  <a:srgbClr val="24292F"/>
                </a:solidFill>
                <a:latin typeface="Noto Sans SC"/>
              </a:rPr>
              <a:t>。</a:t>
            </a:r>
            <a:endParaRPr lang="en-US" altLang="zh-CN" sz="2800" b="1" dirty="0">
              <a:solidFill>
                <a:srgbClr val="24292F"/>
              </a:solidFill>
              <a:latin typeface="Noto Sans SC"/>
            </a:endParaRPr>
          </a:p>
          <a:p>
            <a:pPr lvl="1">
              <a:buFont typeface="Arial" panose="020B0604020202020204" pitchFamily="34" charset="0"/>
              <a:buChar char="•"/>
            </a:pPr>
            <a:r>
              <a:rPr lang="zh-CN" altLang="en-US" sz="2800" b="1" dirty="0">
                <a:solidFill>
                  <a:srgbClr val="24292F"/>
                </a:solidFill>
                <a:latin typeface="Noto Sans SC"/>
              </a:rPr>
              <a:t>当且仅当数组中所有的 </a:t>
            </a:r>
            <a:r>
              <a:rPr lang="en-US" altLang="zh-CN" sz="2800" b="1" dirty="0">
                <a:solidFill>
                  <a:srgbClr val="24292F"/>
                </a:solidFill>
                <a:latin typeface="Noto Sans SC"/>
              </a:rPr>
              <a:t>Promise </a:t>
            </a:r>
            <a:r>
              <a:rPr lang="zh-CN" altLang="en-US" sz="2800" b="1" dirty="0">
                <a:solidFill>
                  <a:srgbClr val="24292F"/>
                </a:solidFill>
                <a:latin typeface="Noto Sans SC"/>
              </a:rPr>
              <a:t>都被兑现时，才会通知 </a:t>
            </a:r>
            <a:r>
              <a:rPr lang="en-US" altLang="zh-CN" sz="2800" b="1" dirty="0">
                <a:solidFill>
                  <a:srgbClr val="24292F"/>
                </a:solidFill>
                <a:latin typeface="Noto Sans SC"/>
              </a:rPr>
              <a:t>then() </a:t>
            </a:r>
            <a:r>
              <a:rPr lang="zh-CN" altLang="en-US" sz="2800" b="1" dirty="0">
                <a:solidFill>
                  <a:srgbClr val="24292F"/>
                </a:solidFill>
                <a:latin typeface="Noto Sans SC"/>
              </a:rPr>
              <a:t>处理函数并提供一个包含所有响应的数组，数组中响应的顺序与被传入 </a:t>
            </a:r>
            <a:r>
              <a:rPr lang="en-US" altLang="zh-CN" sz="2800" b="1" dirty="0">
                <a:solidFill>
                  <a:srgbClr val="24292F"/>
                </a:solidFill>
                <a:latin typeface="Noto Sans SC"/>
              </a:rPr>
              <a:t>all() </a:t>
            </a:r>
            <a:r>
              <a:rPr lang="zh-CN" altLang="en-US" sz="2800" b="1" dirty="0">
                <a:solidFill>
                  <a:srgbClr val="24292F"/>
                </a:solidFill>
                <a:latin typeface="Noto Sans SC"/>
              </a:rPr>
              <a:t>的 </a:t>
            </a:r>
            <a:r>
              <a:rPr lang="en-US" altLang="zh-CN" sz="2800" b="1" dirty="0">
                <a:solidFill>
                  <a:srgbClr val="24292F"/>
                </a:solidFill>
                <a:latin typeface="Noto Sans SC"/>
              </a:rPr>
              <a:t>Promise </a:t>
            </a:r>
            <a:r>
              <a:rPr lang="zh-CN" altLang="en-US" sz="2800" b="1" dirty="0">
                <a:solidFill>
                  <a:srgbClr val="24292F"/>
                </a:solidFill>
                <a:latin typeface="Noto Sans SC"/>
              </a:rPr>
              <a:t>的顺序相同</a:t>
            </a:r>
            <a:endParaRPr lang="en-US" altLang="zh-CN" sz="2800" b="1" dirty="0">
              <a:solidFill>
                <a:srgbClr val="24292F"/>
              </a:solidFill>
              <a:latin typeface="Noto Sans SC"/>
            </a:endParaRPr>
          </a:p>
          <a:p>
            <a:pPr lvl="1">
              <a:buFont typeface="Arial" panose="020B0604020202020204" pitchFamily="34" charset="0"/>
              <a:buChar char="•"/>
            </a:pPr>
            <a:r>
              <a:rPr lang="zh-CN" altLang="en-US" sz="2800" b="1" dirty="0">
                <a:solidFill>
                  <a:srgbClr val="24292F"/>
                </a:solidFill>
                <a:latin typeface="Noto Sans SC"/>
              </a:rPr>
              <a:t>会被拒绝</a:t>
            </a:r>
            <a:r>
              <a:rPr lang="en-US" altLang="zh-CN" sz="2800" b="1" dirty="0">
                <a:solidFill>
                  <a:srgbClr val="24292F"/>
                </a:solidFill>
                <a:latin typeface="Noto Sans SC"/>
              </a:rPr>
              <a:t>——</a:t>
            </a:r>
            <a:r>
              <a:rPr lang="zh-CN" altLang="en-US" sz="2800" b="1" dirty="0">
                <a:solidFill>
                  <a:srgbClr val="24292F"/>
                </a:solidFill>
                <a:latin typeface="Noto Sans SC"/>
              </a:rPr>
              <a:t>如果数组中有任何一个 </a:t>
            </a:r>
            <a:r>
              <a:rPr lang="en-US" altLang="zh-CN" sz="2800" b="1" dirty="0">
                <a:solidFill>
                  <a:srgbClr val="24292F"/>
                </a:solidFill>
                <a:latin typeface="Noto Sans SC"/>
              </a:rPr>
              <a:t>Promise </a:t>
            </a:r>
            <a:r>
              <a:rPr lang="zh-CN" altLang="en-US" sz="2800" b="1" dirty="0">
                <a:solidFill>
                  <a:srgbClr val="24292F"/>
                </a:solidFill>
                <a:latin typeface="Noto Sans SC"/>
              </a:rPr>
              <a:t>被拒绝。此时，</a:t>
            </a:r>
            <a:r>
              <a:rPr lang="en-US" altLang="zh-CN" sz="2800" b="1" dirty="0">
                <a:solidFill>
                  <a:srgbClr val="24292F"/>
                </a:solidFill>
                <a:latin typeface="Noto Sans SC"/>
              </a:rPr>
              <a:t>catch() </a:t>
            </a:r>
            <a:r>
              <a:rPr lang="zh-CN" altLang="en-US" sz="2800" b="1" dirty="0">
                <a:solidFill>
                  <a:srgbClr val="24292F"/>
                </a:solidFill>
                <a:latin typeface="Noto Sans SC"/>
              </a:rPr>
              <a:t>处理函数被调用，并提供被拒绝的 </a:t>
            </a:r>
            <a:r>
              <a:rPr lang="en-US" altLang="zh-CN" sz="2800" b="1" dirty="0">
                <a:solidFill>
                  <a:srgbClr val="24292F"/>
                </a:solidFill>
                <a:latin typeface="Noto Sans SC"/>
              </a:rPr>
              <a:t>Promise </a:t>
            </a:r>
            <a:r>
              <a:rPr lang="zh-CN" altLang="en-US" sz="2800" b="1" dirty="0">
                <a:solidFill>
                  <a:srgbClr val="24292F"/>
                </a:solidFill>
                <a:latin typeface="Noto Sans SC"/>
              </a:rPr>
              <a:t>所抛出的错误</a:t>
            </a:r>
            <a:endParaRPr lang="en-US" altLang="zh-CN" sz="2800" b="1" dirty="0">
              <a:solidFill>
                <a:srgbClr val="24292F"/>
              </a:solidFill>
              <a:latin typeface="Noto Sans SC"/>
            </a:endParaRPr>
          </a:p>
          <a:p>
            <a:pPr>
              <a:buFont typeface="Arial" panose="020B0604020202020204" pitchFamily="34" charset="0"/>
              <a:buChar char="•"/>
            </a:pPr>
            <a:r>
              <a:rPr lang="en-US" altLang="zh-CN" sz="2600" b="1" dirty="0" err="1">
                <a:solidFill>
                  <a:srgbClr val="24292F"/>
                </a:solidFill>
                <a:latin typeface="Noto Sans SC"/>
              </a:rPr>
              <a:t>Promise.any</a:t>
            </a:r>
            <a:r>
              <a:rPr lang="en-US" altLang="zh-CN" sz="2600" b="1" dirty="0">
                <a:solidFill>
                  <a:srgbClr val="24292F"/>
                </a:solidFill>
                <a:latin typeface="Noto Sans SC"/>
              </a:rPr>
              <a:t>()	</a:t>
            </a:r>
          </a:p>
          <a:p>
            <a:pPr lvl="1">
              <a:buFont typeface="Arial" panose="020B0604020202020204" pitchFamily="34" charset="0"/>
              <a:buChar char="•"/>
            </a:pPr>
            <a:r>
              <a:rPr lang="en-US" altLang="zh-CN" sz="2400" b="1" dirty="0">
                <a:solidFill>
                  <a:srgbClr val="24292F"/>
                </a:solidFill>
                <a:latin typeface="Noto Sans SC"/>
              </a:rPr>
              <a:t>Promise </a:t>
            </a:r>
            <a:r>
              <a:rPr lang="zh-CN" altLang="en-US" sz="2400" b="1" dirty="0">
                <a:solidFill>
                  <a:srgbClr val="24292F"/>
                </a:solidFill>
                <a:latin typeface="Noto Sans SC"/>
              </a:rPr>
              <a:t>数组中的任何一个被兑现时它就会被兑现，如果所有的 </a:t>
            </a:r>
            <a:r>
              <a:rPr lang="en-US" altLang="zh-CN" sz="2400" b="1" dirty="0">
                <a:solidFill>
                  <a:srgbClr val="24292F"/>
                </a:solidFill>
                <a:latin typeface="Noto Sans SC"/>
              </a:rPr>
              <a:t>Promise </a:t>
            </a:r>
            <a:r>
              <a:rPr lang="zh-CN" altLang="en-US" sz="2400" b="1" dirty="0">
                <a:solidFill>
                  <a:srgbClr val="24292F"/>
                </a:solidFill>
                <a:latin typeface="Noto Sans SC"/>
              </a:rPr>
              <a:t>都被拒绝，它也会被拒绝。</a:t>
            </a:r>
            <a:endParaRPr lang="en-US" altLang="zh-CN" sz="2400" b="1" dirty="0">
              <a:solidFill>
                <a:srgbClr val="24292F"/>
              </a:solidFill>
              <a:latin typeface="Noto Sans SC"/>
            </a:endParaRPr>
          </a:p>
          <a:p>
            <a:pPr>
              <a:buFont typeface="Arial" panose="020B0604020202020204" pitchFamily="34" charset="0"/>
              <a:buChar char="•"/>
            </a:pPr>
            <a:r>
              <a:rPr lang="zh-CN" altLang="en-US" sz="2400" b="1" dirty="0">
                <a:solidFill>
                  <a:srgbClr val="24292F"/>
                </a:solidFill>
                <a:latin typeface="Noto Sans SC"/>
              </a:rPr>
              <a:t>代码演示 </a:t>
            </a:r>
            <a:r>
              <a:rPr lang="en-US" altLang="zh-CN" sz="2400" b="1" dirty="0">
                <a:solidFill>
                  <a:srgbClr val="24292F"/>
                </a:solidFill>
                <a:latin typeface="Noto Sans SC"/>
              </a:rPr>
              <a:t>lesson04/promise4.js, promise5.js</a:t>
            </a:r>
          </a:p>
          <a:p>
            <a:pPr lvl="1">
              <a:buFont typeface="Arial" panose="020B0604020202020204" pitchFamily="34" charset="0"/>
              <a:buChar char="•"/>
            </a:pPr>
            <a:endParaRPr lang="en-US" altLang="zh-CN" sz="2200" b="1" dirty="0">
              <a:solidFill>
                <a:srgbClr val="24292F"/>
              </a:solidFill>
              <a:latin typeface="Noto Sans SC"/>
            </a:endParaRPr>
          </a:p>
        </p:txBody>
      </p:sp>
    </p:spTree>
    <p:extLst>
      <p:ext uri="{BB962C8B-B14F-4D97-AF65-F5344CB8AC3E}">
        <p14:creationId xmlns:p14="http://schemas.microsoft.com/office/powerpoint/2010/main" val="169449715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208DDB-EEA8-0D92-7013-DA5E50634268}"/>
              </a:ext>
            </a:extLst>
          </p:cNvPr>
          <p:cNvSpPr>
            <a:spLocks noGrp="1"/>
          </p:cNvSpPr>
          <p:nvPr>
            <p:ph type="title" idx="4294967295"/>
          </p:nvPr>
        </p:nvSpPr>
        <p:spPr>
          <a:xfrm>
            <a:off x="436880" y="255587"/>
            <a:ext cx="7985760" cy="699454"/>
          </a:xfrm>
        </p:spPr>
        <p:txBody>
          <a:bodyPr>
            <a:normAutofit/>
          </a:bodyPr>
          <a:lstStyle/>
          <a:p>
            <a:r>
              <a:rPr lang="en-GB" altLang="zh-CN" sz="4000" dirty="0"/>
              <a:t>async </a:t>
            </a:r>
            <a:r>
              <a:rPr lang="zh-CN" altLang="en-US" sz="4000" dirty="0"/>
              <a:t>和 </a:t>
            </a:r>
            <a:r>
              <a:rPr lang="en-GB" altLang="zh-CN" sz="4000" dirty="0"/>
              <a:t>await</a:t>
            </a:r>
          </a:p>
        </p:txBody>
      </p:sp>
      <p:sp>
        <p:nvSpPr>
          <p:cNvPr id="6" name="Content Placeholder 2">
            <a:extLst>
              <a:ext uri="{FF2B5EF4-FFF2-40B4-BE49-F238E27FC236}">
                <a16:creationId xmlns:a16="http://schemas.microsoft.com/office/drawing/2014/main" id="{CDBB5233-DD74-0EA6-A3BC-A35F86AA2C31}"/>
              </a:ext>
            </a:extLst>
          </p:cNvPr>
          <p:cNvSpPr txBox="1">
            <a:spLocks/>
          </p:cNvSpPr>
          <p:nvPr/>
        </p:nvSpPr>
        <p:spPr>
          <a:xfrm>
            <a:off x="436880" y="1087120"/>
            <a:ext cx="11470640" cy="5100003"/>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br>
              <a:rPr lang="zh-CN" altLang="en-US" sz="2400" b="0" i="0" dirty="0">
                <a:solidFill>
                  <a:srgbClr val="1B1B1B"/>
                </a:solidFill>
                <a:effectLst/>
                <a:latin typeface="Inter"/>
              </a:rPr>
            </a:br>
            <a:endParaRPr lang="zh-CN" altLang="en-US" dirty="0"/>
          </a:p>
        </p:txBody>
      </p:sp>
      <p:sp>
        <p:nvSpPr>
          <p:cNvPr id="3" name="Content Placeholder 2">
            <a:extLst>
              <a:ext uri="{FF2B5EF4-FFF2-40B4-BE49-F238E27FC236}">
                <a16:creationId xmlns:a16="http://schemas.microsoft.com/office/drawing/2014/main" id="{555D46F2-18D0-8027-EA54-65FC11AF2BE7}"/>
              </a:ext>
            </a:extLst>
          </p:cNvPr>
          <p:cNvSpPr txBox="1">
            <a:spLocks/>
          </p:cNvSpPr>
          <p:nvPr/>
        </p:nvSpPr>
        <p:spPr>
          <a:xfrm>
            <a:off x="589280" y="1391920"/>
            <a:ext cx="11470640" cy="4927281"/>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Arial" panose="020B0604020202020204" pitchFamily="34" charset="0"/>
              <a:buChar char="•"/>
            </a:pPr>
            <a:r>
              <a:rPr lang="en-US" altLang="zh-CN" sz="2400" b="1" dirty="0">
                <a:solidFill>
                  <a:srgbClr val="24292F"/>
                </a:solidFill>
                <a:latin typeface="Noto Sans SC"/>
              </a:rPr>
              <a:t> async </a:t>
            </a:r>
            <a:r>
              <a:rPr lang="zh-CN" altLang="en-US" sz="2400" b="1" dirty="0">
                <a:solidFill>
                  <a:srgbClr val="24292F"/>
                </a:solidFill>
                <a:latin typeface="Noto Sans SC"/>
              </a:rPr>
              <a:t>关键字为你提供了一种更简单的方法来处理基于异步 </a:t>
            </a:r>
            <a:r>
              <a:rPr lang="en-US" altLang="zh-CN" sz="2400" b="1" dirty="0">
                <a:solidFill>
                  <a:srgbClr val="24292F"/>
                </a:solidFill>
                <a:latin typeface="Noto Sans SC"/>
              </a:rPr>
              <a:t>Promise </a:t>
            </a:r>
            <a:r>
              <a:rPr lang="zh-CN" altLang="en-US" sz="2400" b="1" dirty="0">
                <a:solidFill>
                  <a:srgbClr val="24292F"/>
                </a:solidFill>
                <a:latin typeface="Noto Sans SC"/>
              </a:rPr>
              <a:t>的代码。在一个函数的开头添加 </a:t>
            </a:r>
            <a:r>
              <a:rPr lang="en-US" altLang="zh-CN" sz="2400" b="1" dirty="0">
                <a:solidFill>
                  <a:srgbClr val="24292F"/>
                </a:solidFill>
                <a:latin typeface="Noto Sans SC"/>
              </a:rPr>
              <a:t>async</a:t>
            </a:r>
            <a:r>
              <a:rPr lang="zh-CN" altLang="en-US" sz="2400" b="1" dirty="0">
                <a:solidFill>
                  <a:srgbClr val="24292F"/>
                </a:solidFill>
                <a:latin typeface="Noto Sans SC"/>
              </a:rPr>
              <a:t>，就可以使其成为一个异步函数。</a:t>
            </a:r>
            <a:endParaRPr lang="en-US" altLang="zh-CN" sz="2400" b="1" dirty="0">
              <a:solidFill>
                <a:srgbClr val="24292F"/>
              </a:solidFill>
              <a:latin typeface="Noto Sans SC"/>
            </a:endParaRPr>
          </a:p>
          <a:p>
            <a:pPr>
              <a:buFont typeface="Arial" panose="020B0604020202020204" pitchFamily="34" charset="0"/>
              <a:buChar char="•"/>
            </a:pPr>
            <a:r>
              <a:rPr lang="zh-CN" altLang="en-US" sz="2400" b="1" dirty="0">
                <a:solidFill>
                  <a:srgbClr val="24292F"/>
                </a:solidFill>
                <a:latin typeface="Noto Sans SC"/>
              </a:rPr>
              <a:t>在异步函数中，你可以在调用一个返回 </a:t>
            </a:r>
            <a:r>
              <a:rPr lang="en-US" altLang="zh-CN" sz="2400" b="1" dirty="0">
                <a:solidFill>
                  <a:srgbClr val="24292F"/>
                </a:solidFill>
                <a:latin typeface="Noto Sans SC"/>
              </a:rPr>
              <a:t>Promise </a:t>
            </a:r>
            <a:r>
              <a:rPr lang="zh-CN" altLang="en-US" sz="2400" b="1" dirty="0">
                <a:solidFill>
                  <a:srgbClr val="24292F"/>
                </a:solidFill>
                <a:latin typeface="Noto Sans SC"/>
              </a:rPr>
              <a:t>的函数之前使用 </a:t>
            </a:r>
            <a:r>
              <a:rPr lang="en-US" altLang="zh-CN" sz="2400" b="1" dirty="0">
                <a:solidFill>
                  <a:srgbClr val="24292F"/>
                </a:solidFill>
                <a:latin typeface="Noto Sans SC"/>
              </a:rPr>
              <a:t>await </a:t>
            </a:r>
            <a:r>
              <a:rPr lang="zh-CN" altLang="en-US" sz="2400" b="1" dirty="0">
                <a:solidFill>
                  <a:srgbClr val="24292F"/>
                </a:solidFill>
                <a:latin typeface="Noto Sans SC"/>
              </a:rPr>
              <a:t>关键字。这使得代码在该点上等待，直到 </a:t>
            </a:r>
            <a:r>
              <a:rPr lang="en-US" altLang="zh-CN" sz="2400" b="1" dirty="0">
                <a:solidFill>
                  <a:srgbClr val="24292F"/>
                </a:solidFill>
                <a:latin typeface="Noto Sans SC"/>
              </a:rPr>
              <a:t>Promise </a:t>
            </a:r>
            <a:r>
              <a:rPr lang="zh-CN" altLang="en-US" sz="2400" b="1" dirty="0">
                <a:solidFill>
                  <a:srgbClr val="24292F"/>
                </a:solidFill>
                <a:latin typeface="Noto Sans SC"/>
              </a:rPr>
              <a:t>被完成，这时 </a:t>
            </a:r>
            <a:r>
              <a:rPr lang="en-US" altLang="zh-CN" sz="2400" b="1" dirty="0">
                <a:solidFill>
                  <a:srgbClr val="24292F"/>
                </a:solidFill>
                <a:latin typeface="Noto Sans SC"/>
              </a:rPr>
              <a:t>Promise </a:t>
            </a:r>
            <a:r>
              <a:rPr lang="zh-CN" altLang="en-US" sz="2400" b="1" dirty="0">
                <a:solidFill>
                  <a:srgbClr val="24292F"/>
                </a:solidFill>
                <a:latin typeface="Noto Sans SC"/>
              </a:rPr>
              <a:t>的响应被当作返回值，或者被拒绝的响应被作为错误抛出。</a:t>
            </a:r>
            <a:endParaRPr lang="en-US" altLang="zh-CN" sz="2400" b="1" dirty="0">
              <a:solidFill>
                <a:srgbClr val="24292F"/>
              </a:solidFill>
              <a:latin typeface="Noto Sans SC"/>
            </a:endParaRPr>
          </a:p>
          <a:p>
            <a:pPr>
              <a:buFont typeface="Arial" panose="020B0604020202020204" pitchFamily="34" charset="0"/>
              <a:buChar char="•"/>
            </a:pPr>
            <a:r>
              <a:rPr lang="zh-CN" altLang="en-US" sz="2400" b="1" dirty="0">
                <a:solidFill>
                  <a:srgbClr val="24292F"/>
                </a:solidFill>
                <a:latin typeface="Noto Sans SC"/>
              </a:rPr>
              <a:t>只能在 </a:t>
            </a:r>
            <a:r>
              <a:rPr lang="en-US" altLang="zh-CN" sz="2400" b="1" dirty="0">
                <a:solidFill>
                  <a:srgbClr val="24292F"/>
                </a:solidFill>
                <a:latin typeface="Noto Sans SC"/>
              </a:rPr>
              <a:t>async </a:t>
            </a:r>
            <a:r>
              <a:rPr lang="zh-CN" altLang="en-US" sz="2400" b="1" dirty="0">
                <a:solidFill>
                  <a:srgbClr val="24292F"/>
                </a:solidFill>
                <a:latin typeface="Noto Sans SC"/>
              </a:rPr>
              <a:t>函数中使用 </a:t>
            </a:r>
            <a:r>
              <a:rPr lang="en-US" altLang="zh-CN" sz="2400" b="1" dirty="0">
                <a:solidFill>
                  <a:srgbClr val="24292F"/>
                </a:solidFill>
                <a:latin typeface="Noto Sans SC"/>
              </a:rPr>
              <a:t>await</a:t>
            </a:r>
            <a:r>
              <a:rPr lang="zh-CN" altLang="en-US" sz="2400" b="1" dirty="0">
                <a:solidFill>
                  <a:srgbClr val="24292F"/>
                </a:solidFill>
                <a:latin typeface="Noto Sans SC"/>
              </a:rPr>
              <a:t>，除非你的代码是 </a:t>
            </a:r>
            <a:r>
              <a:rPr lang="en-US" altLang="zh-CN" sz="2400" b="1" dirty="0">
                <a:solidFill>
                  <a:srgbClr val="24292F"/>
                </a:solidFill>
                <a:latin typeface="Noto Sans SC"/>
              </a:rPr>
              <a:t>JavaScript </a:t>
            </a:r>
            <a:r>
              <a:rPr lang="zh-CN" altLang="en-US" sz="2400" b="1" dirty="0">
                <a:solidFill>
                  <a:srgbClr val="24292F"/>
                </a:solidFill>
                <a:latin typeface="Noto Sans SC"/>
              </a:rPr>
              <a:t>模块。</a:t>
            </a:r>
            <a:endParaRPr lang="en-US" altLang="zh-CN" sz="2400" b="1" dirty="0">
              <a:solidFill>
                <a:srgbClr val="24292F"/>
              </a:solidFill>
              <a:latin typeface="Noto Sans SC"/>
            </a:endParaRPr>
          </a:p>
          <a:p>
            <a:pPr>
              <a:buFont typeface="Arial" panose="020B0604020202020204" pitchFamily="34" charset="0"/>
              <a:buChar char="•"/>
            </a:pPr>
            <a:r>
              <a:rPr lang="zh-CN" altLang="en-US" sz="2400" b="1" dirty="0">
                <a:solidFill>
                  <a:srgbClr val="24292F"/>
                </a:solidFill>
                <a:latin typeface="Noto Sans SC"/>
              </a:rPr>
              <a:t>在需要使用 </a:t>
            </a:r>
            <a:r>
              <a:rPr lang="en-US" altLang="zh-CN" sz="2400" b="1" dirty="0">
                <a:solidFill>
                  <a:srgbClr val="24292F"/>
                </a:solidFill>
                <a:latin typeface="Noto Sans SC"/>
              </a:rPr>
              <a:t>Promise </a:t>
            </a:r>
            <a:r>
              <a:rPr lang="zh-CN" altLang="en-US" sz="2400" b="1" dirty="0">
                <a:solidFill>
                  <a:srgbClr val="24292F"/>
                </a:solidFill>
                <a:latin typeface="Noto Sans SC"/>
              </a:rPr>
              <a:t>链地方使用 </a:t>
            </a:r>
            <a:r>
              <a:rPr lang="en-US" altLang="zh-CN" sz="2400" b="1" dirty="0">
                <a:solidFill>
                  <a:srgbClr val="24292F"/>
                </a:solidFill>
                <a:latin typeface="Noto Sans SC"/>
              </a:rPr>
              <a:t>async </a:t>
            </a:r>
            <a:r>
              <a:rPr lang="zh-CN" altLang="en-US" sz="2400" b="1" dirty="0">
                <a:solidFill>
                  <a:srgbClr val="24292F"/>
                </a:solidFill>
                <a:latin typeface="Noto Sans SC"/>
              </a:rPr>
              <a:t>函数，这也使得 </a:t>
            </a:r>
            <a:r>
              <a:rPr lang="en-US" altLang="zh-CN" sz="2400" b="1" dirty="0">
                <a:solidFill>
                  <a:srgbClr val="24292F"/>
                </a:solidFill>
                <a:latin typeface="Noto Sans SC"/>
              </a:rPr>
              <a:t>Promise </a:t>
            </a:r>
            <a:r>
              <a:rPr lang="zh-CN" altLang="en-US" sz="2400" b="1" dirty="0">
                <a:solidFill>
                  <a:srgbClr val="24292F"/>
                </a:solidFill>
                <a:latin typeface="Noto Sans SC"/>
              </a:rPr>
              <a:t>的工作更加直观</a:t>
            </a:r>
            <a:endParaRPr lang="en-US" altLang="zh-CN" sz="2400" b="1" dirty="0">
              <a:solidFill>
                <a:srgbClr val="24292F"/>
              </a:solidFill>
              <a:latin typeface="Noto Sans SC"/>
            </a:endParaRPr>
          </a:p>
          <a:p>
            <a:pPr>
              <a:buFont typeface="Arial" panose="020B0604020202020204" pitchFamily="34" charset="0"/>
              <a:buChar char="•"/>
            </a:pPr>
            <a:r>
              <a:rPr lang="en-US" altLang="zh-CN" sz="2400" b="1" dirty="0">
                <a:solidFill>
                  <a:srgbClr val="24292F"/>
                </a:solidFill>
                <a:latin typeface="Noto Sans SC"/>
              </a:rPr>
              <a:t>await </a:t>
            </a:r>
            <a:r>
              <a:rPr lang="zh-CN" altLang="en-US" sz="2400" b="1" dirty="0">
                <a:solidFill>
                  <a:srgbClr val="24292F"/>
                </a:solidFill>
                <a:latin typeface="Noto Sans SC"/>
              </a:rPr>
              <a:t>强制异步操作以串联的方式完成。如果下一个操作的结果取决于上一个操作的结果，这是必要的，但如果不是这样，像 </a:t>
            </a:r>
            <a:r>
              <a:rPr lang="en-US" altLang="zh-CN" sz="2400" b="1" dirty="0" err="1">
                <a:solidFill>
                  <a:srgbClr val="24292F"/>
                </a:solidFill>
                <a:latin typeface="Noto Sans SC"/>
              </a:rPr>
              <a:t>Promise.all</a:t>
            </a:r>
            <a:r>
              <a:rPr lang="en-US" altLang="zh-CN" sz="2400" b="1" dirty="0">
                <a:solidFill>
                  <a:srgbClr val="24292F"/>
                </a:solidFill>
                <a:latin typeface="Noto Sans SC"/>
              </a:rPr>
              <a:t>() </a:t>
            </a:r>
            <a:r>
              <a:rPr lang="zh-CN" altLang="en-US" sz="2400" b="1" dirty="0">
                <a:solidFill>
                  <a:srgbClr val="24292F"/>
                </a:solidFill>
                <a:latin typeface="Noto Sans SC"/>
              </a:rPr>
              <a:t>这样的操作会有更好的性能</a:t>
            </a:r>
            <a:endParaRPr lang="en-US" altLang="zh-CN" sz="2400" b="1" dirty="0">
              <a:solidFill>
                <a:srgbClr val="24292F"/>
              </a:solidFill>
              <a:latin typeface="Noto Sans SC"/>
            </a:endParaRPr>
          </a:p>
          <a:p>
            <a:pPr>
              <a:buFont typeface="Arial" panose="020B0604020202020204" pitchFamily="34" charset="0"/>
              <a:buChar char="•"/>
            </a:pPr>
            <a:r>
              <a:rPr lang="zh-CN" altLang="en-US" sz="2400" b="1" dirty="0">
                <a:solidFill>
                  <a:srgbClr val="24292F"/>
                </a:solidFill>
                <a:latin typeface="Noto Sans SC"/>
              </a:rPr>
              <a:t>代码示例 </a:t>
            </a:r>
            <a:r>
              <a:rPr lang="en-US" altLang="zh-CN" sz="2400" b="1" dirty="0">
                <a:solidFill>
                  <a:srgbClr val="24292F"/>
                </a:solidFill>
                <a:latin typeface="Noto Sans SC"/>
              </a:rPr>
              <a:t>await1.js, await2.js, await3.js</a:t>
            </a:r>
            <a:endParaRPr lang="zh-CN" altLang="en-US" sz="2400" b="1" dirty="0">
              <a:solidFill>
                <a:srgbClr val="24292F"/>
              </a:solidFill>
              <a:latin typeface="Noto Sans SC"/>
            </a:endParaRPr>
          </a:p>
          <a:p>
            <a:pPr>
              <a:buFont typeface="Arial" panose="020B0604020202020204" pitchFamily="34" charset="0"/>
              <a:buChar char="•"/>
            </a:pPr>
            <a:endParaRPr lang="zh-CN" altLang="en-US" sz="2400" b="1" dirty="0">
              <a:solidFill>
                <a:srgbClr val="24292F"/>
              </a:solidFill>
              <a:latin typeface="Noto Sans SC"/>
            </a:endParaRPr>
          </a:p>
          <a:p>
            <a:pPr>
              <a:buFont typeface="Arial" panose="020B0604020202020204" pitchFamily="34" charset="0"/>
              <a:buChar char="•"/>
            </a:pPr>
            <a:endParaRPr lang="en-US" altLang="zh-CN" sz="2400" b="1" dirty="0">
              <a:solidFill>
                <a:srgbClr val="24292F"/>
              </a:solidFill>
              <a:latin typeface="Noto Sans SC"/>
            </a:endParaRPr>
          </a:p>
          <a:p>
            <a:pPr lvl="1">
              <a:buFont typeface="Arial" panose="020B0604020202020204" pitchFamily="34" charset="0"/>
              <a:buChar char="•"/>
            </a:pPr>
            <a:endParaRPr lang="en-US" altLang="zh-CN" sz="2200" b="1" dirty="0">
              <a:solidFill>
                <a:srgbClr val="24292F"/>
              </a:solidFill>
              <a:latin typeface="Noto Sans SC"/>
            </a:endParaRPr>
          </a:p>
        </p:txBody>
      </p:sp>
    </p:spTree>
    <p:extLst>
      <p:ext uri="{BB962C8B-B14F-4D97-AF65-F5344CB8AC3E}">
        <p14:creationId xmlns:p14="http://schemas.microsoft.com/office/powerpoint/2010/main" val="116077508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2A3C70-835A-DB23-F90F-C6B07FA77B74}"/>
              </a:ext>
            </a:extLst>
          </p:cNvPr>
          <p:cNvSpPr>
            <a:spLocks noGrp="1"/>
          </p:cNvSpPr>
          <p:nvPr>
            <p:ph type="title"/>
          </p:nvPr>
        </p:nvSpPr>
        <p:spPr/>
        <p:txBody>
          <a:bodyPr>
            <a:normAutofit/>
          </a:bodyPr>
          <a:lstStyle/>
          <a:p>
            <a:r>
              <a:rPr lang="zh-CN" altLang="en-US" sz="7200" b="1" i="0" dirty="0">
                <a:solidFill>
                  <a:srgbClr val="1B1B1B"/>
                </a:solidFill>
                <a:effectLst/>
                <a:latin typeface="Inter"/>
              </a:rPr>
              <a:t>实现基于 </a:t>
            </a:r>
            <a:r>
              <a:rPr lang="en-GB" altLang="zh-CN" sz="7200" b="1" i="0" dirty="0">
                <a:solidFill>
                  <a:srgbClr val="1B1B1B"/>
                </a:solidFill>
                <a:effectLst/>
                <a:latin typeface="Inter"/>
              </a:rPr>
              <a:t>Promise </a:t>
            </a:r>
            <a:r>
              <a:rPr lang="zh-CN" altLang="en-US" sz="7200" b="1" i="0" dirty="0">
                <a:solidFill>
                  <a:srgbClr val="1B1B1B"/>
                </a:solidFill>
                <a:effectLst/>
                <a:latin typeface="Inter"/>
              </a:rPr>
              <a:t>的 </a:t>
            </a:r>
            <a:r>
              <a:rPr lang="en-GB" altLang="zh-CN" sz="7200" b="1" i="0" dirty="0">
                <a:solidFill>
                  <a:srgbClr val="1B1B1B"/>
                </a:solidFill>
                <a:effectLst/>
                <a:latin typeface="Inter"/>
              </a:rPr>
              <a:t>API</a:t>
            </a:r>
            <a:endParaRPr lang="zh-CN" altLang="en-US" sz="7200" dirty="0"/>
          </a:p>
        </p:txBody>
      </p:sp>
      <p:sp>
        <p:nvSpPr>
          <p:cNvPr id="3" name="Text Placeholder 2">
            <a:extLst>
              <a:ext uri="{FF2B5EF4-FFF2-40B4-BE49-F238E27FC236}">
                <a16:creationId xmlns:a16="http://schemas.microsoft.com/office/drawing/2014/main" id="{9AB9FBFF-E55C-1FEB-937C-C93255DDE8FD}"/>
              </a:ext>
            </a:extLst>
          </p:cNvPr>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9075972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208DDB-EEA8-0D92-7013-DA5E50634268}"/>
              </a:ext>
            </a:extLst>
          </p:cNvPr>
          <p:cNvSpPr>
            <a:spLocks noGrp="1"/>
          </p:cNvSpPr>
          <p:nvPr>
            <p:ph type="title" idx="4294967295"/>
          </p:nvPr>
        </p:nvSpPr>
        <p:spPr>
          <a:xfrm>
            <a:off x="436880" y="255587"/>
            <a:ext cx="7985760" cy="699454"/>
          </a:xfrm>
        </p:spPr>
        <p:txBody>
          <a:bodyPr>
            <a:normAutofit/>
          </a:bodyPr>
          <a:lstStyle/>
          <a:p>
            <a:r>
              <a:rPr lang="en-GB" altLang="zh-CN" sz="4000" dirty="0"/>
              <a:t>Promise() </a:t>
            </a:r>
            <a:r>
              <a:rPr lang="zh-CN" altLang="en-US" sz="4000" dirty="0"/>
              <a:t>构造器</a:t>
            </a:r>
            <a:endParaRPr lang="en-GB" altLang="zh-CN" sz="4000" dirty="0"/>
          </a:p>
        </p:txBody>
      </p:sp>
      <p:sp>
        <p:nvSpPr>
          <p:cNvPr id="6" name="Content Placeholder 2">
            <a:extLst>
              <a:ext uri="{FF2B5EF4-FFF2-40B4-BE49-F238E27FC236}">
                <a16:creationId xmlns:a16="http://schemas.microsoft.com/office/drawing/2014/main" id="{CDBB5233-DD74-0EA6-A3BC-A35F86AA2C31}"/>
              </a:ext>
            </a:extLst>
          </p:cNvPr>
          <p:cNvSpPr txBox="1">
            <a:spLocks/>
          </p:cNvSpPr>
          <p:nvPr/>
        </p:nvSpPr>
        <p:spPr>
          <a:xfrm>
            <a:off x="436880" y="1087120"/>
            <a:ext cx="11470640" cy="5100003"/>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br>
              <a:rPr lang="zh-CN" altLang="en-US" sz="2400" b="0" i="0" dirty="0">
                <a:solidFill>
                  <a:srgbClr val="1B1B1B"/>
                </a:solidFill>
                <a:effectLst/>
                <a:latin typeface="Inter"/>
              </a:rPr>
            </a:br>
            <a:endParaRPr lang="zh-CN" altLang="en-US" dirty="0"/>
          </a:p>
        </p:txBody>
      </p:sp>
      <p:pic>
        <p:nvPicPr>
          <p:cNvPr id="5" name="Picture 4">
            <a:extLst>
              <a:ext uri="{FF2B5EF4-FFF2-40B4-BE49-F238E27FC236}">
                <a16:creationId xmlns:a16="http://schemas.microsoft.com/office/drawing/2014/main" id="{195F1F9E-3B76-BDA6-5796-AB14D67041E6}"/>
              </a:ext>
            </a:extLst>
          </p:cNvPr>
          <p:cNvPicPr>
            <a:picLocks noChangeAspect="1"/>
          </p:cNvPicPr>
          <p:nvPr/>
        </p:nvPicPr>
        <p:blipFill>
          <a:blip r:embed="rId2"/>
          <a:stretch>
            <a:fillRect/>
          </a:stretch>
        </p:blipFill>
        <p:spPr>
          <a:xfrm>
            <a:off x="528018" y="932205"/>
            <a:ext cx="10428703" cy="5100003"/>
          </a:xfrm>
          <a:prstGeom prst="rect">
            <a:avLst/>
          </a:prstGeom>
        </p:spPr>
      </p:pic>
    </p:spTree>
    <p:extLst>
      <p:ext uri="{BB962C8B-B14F-4D97-AF65-F5344CB8AC3E}">
        <p14:creationId xmlns:p14="http://schemas.microsoft.com/office/powerpoint/2010/main" val="377441054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208DDB-EEA8-0D92-7013-DA5E50634268}"/>
              </a:ext>
            </a:extLst>
          </p:cNvPr>
          <p:cNvSpPr>
            <a:spLocks noGrp="1"/>
          </p:cNvSpPr>
          <p:nvPr>
            <p:ph type="title" idx="4294967295"/>
          </p:nvPr>
        </p:nvSpPr>
        <p:spPr>
          <a:xfrm>
            <a:off x="436880" y="255587"/>
            <a:ext cx="7985760" cy="699454"/>
          </a:xfrm>
        </p:spPr>
        <p:txBody>
          <a:bodyPr>
            <a:normAutofit/>
          </a:bodyPr>
          <a:lstStyle/>
          <a:p>
            <a:r>
              <a:rPr lang="zh-CN" altLang="en-US" sz="4000" dirty="0"/>
              <a:t>示例：实现一个闹钟 </a:t>
            </a:r>
            <a:r>
              <a:rPr lang="en-GB" altLang="zh-CN" sz="4000" dirty="0"/>
              <a:t>alarm()</a:t>
            </a:r>
          </a:p>
        </p:txBody>
      </p:sp>
      <p:sp>
        <p:nvSpPr>
          <p:cNvPr id="6" name="Content Placeholder 2">
            <a:extLst>
              <a:ext uri="{FF2B5EF4-FFF2-40B4-BE49-F238E27FC236}">
                <a16:creationId xmlns:a16="http://schemas.microsoft.com/office/drawing/2014/main" id="{CDBB5233-DD74-0EA6-A3BC-A35F86AA2C31}"/>
              </a:ext>
            </a:extLst>
          </p:cNvPr>
          <p:cNvSpPr txBox="1">
            <a:spLocks/>
          </p:cNvSpPr>
          <p:nvPr/>
        </p:nvSpPr>
        <p:spPr>
          <a:xfrm>
            <a:off x="436880" y="1087120"/>
            <a:ext cx="11470640" cy="5100003"/>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br>
              <a:rPr lang="zh-CN" altLang="en-US" sz="2400" b="0" i="0" dirty="0">
                <a:solidFill>
                  <a:srgbClr val="1B1B1B"/>
                </a:solidFill>
                <a:effectLst/>
                <a:latin typeface="Inter"/>
              </a:rPr>
            </a:br>
            <a:endParaRPr lang="zh-CN" altLang="en-US" dirty="0"/>
          </a:p>
        </p:txBody>
      </p:sp>
      <p:sp>
        <p:nvSpPr>
          <p:cNvPr id="3" name="Content Placeholder 2">
            <a:extLst>
              <a:ext uri="{FF2B5EF4-FFF2-40B4-BE49-F238E27FC236}">
                <a16:creationId xmlns:a16="http://schemas.microsoft.com/office/drawing/2014/main" id="{4A766C01-5F34-6593-3480-68E601336445}"/>
              </a:ext>
            </a:extLst>
          </p:cNvPr>
          <p:cNvSpPr txBox="1">
            <a:spLocks/>
          </p:cNvSpPr>
          <p:nvPr/>
        </p:nvSpPr>
        <p:spPr>
          <a:xfrm>
            <a:off x="589280" y="1391920"/>
            <a:ext cx="11470640" cy="4927281"/>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Arial" panose="020B0604020202020204" pitchFamily="34" charset="0"/>
              <a:buChar char="•"/>
            </a:pPr>
            <a:r>
              <a:rPr lang="zh-CN" altLang="en-US" sz="2400" b="1" dirty="0">
                <a:solidFill>
                  <a:srgbClr val="24292F"/>
                </a:solidFill>
                <a:latin typeface="Noto Sans SC"/>
              </a:rPr>
              <a:t>实现一个基于 </a:t>
            </a:r>
            <a:r>
              <a:rPr lang="en-US" altLang="zh-CN" sz="2400" b="1" dirty="0">
                <a:solidFill>
                  <a:srgbClr val="24292F"/>
                </a:solidFill>
                <a:latin typeface="Noto Sans SC"/>
              </a:rPr>
              <a:t>promise </a:t>
            </a:r>
            <a:r>
              <a:rPr lang="zh-CN" altLang="en-US" sz="2400" b="1" dirty="0">
                <a:solidFill>
                  <a:srgbClr val="24292F"/>
                </a:solidFill>
                <a:latin typeface="Noto Sans SC"/>
              </a:rPr>
              <a:t>的 </a:t>
            </a:r>
            <a:r>
              <a:rPr lang="en-US" altLang="zh-CN" sz="2400" b="1" dirty="0">
                <a:solidFill>
                  <a:srgbClr val="24292F"/>
                </a:solidFill>
                <a:latin typeface="Noto Sans SC"/>
              </a:rPr>
              <a:t>alarm API</a:t>
            </a:r>
            <a:r>
              <a:rPr lang="zh-CN" altLang="en-US" sz="2400" b="1" dirty="0">
                <a:solidFill>
                  <a:srgbClr val="24292F"/>
                </a:solidFill>
                <a:latin typeface="Noto Sans SC"/>
              </a:rPr>
              <a:t>，叫做 </a:t>
            </a:r>
            <a:r>
              <a:rPr lang="en-US" altLang="zh-CN" sz="2400" b="1" dirty="0">
                <a:solidFill>
                  <a:srgbClr val="24292F"/>
                </a:solidFill>
                <a:latin typeface="Noto Sans SC"/>
              </a:rPr>
              <a:t>alarm() </a:t>
            </a:r>
            <a:r>
              <a:rPr lang="zh-CN" altLang="en-US" sz="2400" b="1" dirty="0">
                <a:solidFill>
                  <a:srgbClr val="24292F"/>
                </a:solidFill>
                <a:latin typeface="Noto Sans SC"/>
              </a:rPr>
              <a:t>。它将以被唤醒人的名字和一个在人被唤醒前以毫秒为单位的延迟作为参数。在延迟之后，本函数将会发送一个包含需要被唤醒人名字的 </a:t>
            </a:r>
            <a:r>
              <a:rPr lang="en-US" altLang="zh-CN" sz="2400" b="1" dirty="0">
                <a:solidFill>
                  <a:srgbClr val="24292F"/>
                </a:solidFill>
                <a:latin typeface="Noto Sans SC"/>
              </a:rPr>
              <a:t>"Wake up!" </a:t>
            </a:r>
            <a:r>
              <a:rPr lang="zh-CN" altLang="en-US" sz="2400" b="1" dirty="0">
                <a:solidFill>
                  <a:srgbClr val="24292F"/>
                </a:solidFill>
                <a:latin typeface="Noto Sans SC"/>
              </a:rPr>
              <a:t>消息。</a:t>
            </a:r>
            <a:endParaRPr lang="en-US" altLang="zh-CN" sz="2400" b="1" dirty="0">
              <a:solidFill>
                <a:srgbClr val="24292F"/>
              </a:solidFill>
              <a:latin typeface="Noto Sans SC"/>
            </a:endParaRPr>
          </a:p>
          <a:p>
            <a:pPr>
              <a:buFont typeface="Arial" panose="020B0604020202020204" pitchFamily="34" charset="0"/>
              <a:buChar char="•"/>
            </a:pPr>
            <a:r>
              <a:rPr lang="zh-CN" altLang="en-US" sz="2400" b="1" dirty="0">
                <a:solidFill>
                  <a:srgbClr val="24292F"/>
                </a:solidFill>
                <a:latin typeface="Noto Sans SC"/>
              </a:rPr>
              <a:t>代码示例 </a:t>
            </a:r>
            <a:r>
              <a:rPr lang="en-US" altLang="zh-CN" sz="2400" b="1" dirty="0">
                <a:solidFill>
                  <a:srgbClr val="24292F"/>
                </a:solidFill>
                <a:latin typeface="Noto Sans SC"/>
              </a:rPr>
              <a:t>alarm1.html, await2.html</a:t>
            </a:r>
            <a:endParaRPr lang="zh-CN" altLang="en-US" sz="2400" b="1" dirty="0">
              <a:solidFill>
                <a:srgbClr val="24292F"/>
              </a:solidFill>
              <a:latin typeface="Noto Sans SC"/>
            </a:endParaRPr>
          </a:p>
          <a:p>
            <a:pPr>
              <a:buFont typeface="Arial" panose="020B0604020202020204" pitchFamily="34" charset="0"/>
              <a:buChar char="•"/>
            </a:pPr>
            <a:endParaRPr lang="en-US" altLang="zh-CN" sz="2400" b="1" dirty="0">
              <a:solidFill>
                <a:srgbClr val="24292F"/>
              </a:solidFill>
              <a:latin typeface="Noto Sans SC"/>
            </a:endParaRPr>
          </a:p>
          <a:p>
            <a:pPr lvl="1">
              <a:buFont typeface="Arial" panose="020B0604020202020204" pitchFamily="34" charset="0"/>
              <a:buChar char="•"/>
            </a:pPr>
            <a:endParaRPr lang="en-US" altLang="zh-CN" sz="2200" b="1" dirty="0">
              <a:solidFill>
                <a:srgbClr val="24292F"/>
              </a:solidFill>
              <a:latin typeface="Noto Sans SC"/>
            </a:endParaRPr>
          </a:p>
        </p:txBody>
      </p:sp>
    </p:spTree>
    <p:extLst>
      <p:ext uri="{BB962C8B-B14F-4D97-AF65-F5344CB8AC3E}">
        <p14:creationId xmlns:p14="http://schemas.microsoft.com/office/powerpoint/2010/main" val="206360062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208DDB-EEA8-0D92-7013-DA5E50634268}"/>
              </a:ext>
            </a:extLst>
          </p:cNvPr>
          <p:cNvSpPr>
            <a:spLocks noGrp="1"/>
          </p:cNvSpPr>
          <p:nvPr>
            <p:ph type="title" idx="4294967295"/>
          </p:nvPr>
        </p:nvSpPr>
        <p:spPr>
          <a:xfrm>
            <a:off x="436880" y="255587"/>
            <a:ext cx="7985760" cy="699454"/>
          </a:xfrm>
        </p:spPr>
        <p:txBody>
          <a:bodyPr>
            <a:normAutofit/>
          </a:bodyPr>
          <a:lstStyle/>
          <a:p>
            <a:r>
              <a:rPr lang="zh-CN" altLang="en-US" sz="4000" dirty="0"/>
              <a:t>作业</a:t>
            </a:r>
            <a:endParaRPr lang="en-GB" altLang="zh-CN" sz="4000" dirty="0"/>
          </a:p>
        </p:txBody>
      </p:sp>
      <p:sp>
        <p:nvSpPr>
          <p:cNvPr id="6" name="Content Placeholder 2">
            <a:extLst>
              <a:ext uri="{FF2B5EF4-FFF2-40B4-BE49-F238E27FC236}">
                <a16:creationId xmlns:a16="http://schemas.microsoft.com/office/drawing/2014/main" id="{CDBB5233-DD74-0EA6-A3BC-A35F86AA2C31}"/>
              </a:ext>
            </a:extLst>
          </p:cNvPr>
          <p:cNvSpPr txBox="1">
            <a:spLocks/>
          </p:cNvSpPr>
          <p:nvPr/>
        </p:nvSpPr>
        <p:spPr>
          <a:xfrm>
            <a:off x="436880" y="1087120"/>
            <a:ext cx="11470640" cy="5100003"/>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br>
              <a:rPr lang="zh-CN" altLang="en-US" sz="2400" b="0" i="0" dirty="0">
                <a:solidFill>
                  <a:srgbClr val="1B1B1B"/>
                </a:solidFill>
                <a:effectLst/>
                <a:latin typeface="Inter"/>
              </a:rPr>
            </a:br>
            <a:endParaRPr lang="zh-CN" altLang="en-US" dirty="0"/>
          </a:p>
        </p:txBody>
      </p:sp>
      <p:sp>
        <p:nvSpPr>
          <p:cNvPr id="3" name="Content Placeholder 2">
            <a:extLst>
              <a:ext uri="{FF2B5EF4-FFF2-40B4-BE49-F238E27FC236}">
                <a16:creationId xmlns:a16="http://schemas.microsoft.com/office/drawing/2014/main" id="{4A766C01-5F34-6593-3480-68E601336445}"/>
              </a:ext>
            </a:extLst>
          </p:cNvPr>
          <p:cNvSpPr txBox="1">
            <a:spLocks/>
          </p:cNvSpPr>
          <p:nvPr/>
        </p:nvSpPr>
        <p:spPr>
          <a:xfrm>
            <a:off x="589280" y="1391920"/>
            <a:ext cx="11470640" cy="4927281"/>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Arial" panose="020B0604020202020204" pitchFamily="34" charset="0"/>
              <a:buChar char="•"/>
            </a:pPr>
            <a:r>
              <a:rPr lang="zh-CN" altLang="en-US" sz="3600" b="1" dirty="0">
                <a:solidFill>
                  <a:srgbClr val="24292F"/>
                </a:solidFill>
                <a:latin typeface="Noto Sans SC"/>
              </a:rPr>
              <a:t>序列动画</a:t>
            </a:r>
            <a:endParaRPr lang="en-US" altLang="zh-CN" sz="3600" b="1" dirty="0">
              <a:solidFill>
                <a:srgbClr val="24292F"/>
              </a:solidFill>
              <a:latin typeface="Noto Sans SC"/>
            </a:endParaRPr>
          </a:p>
          <a:p>
            <a:pPr lvl="1">
              <a:buFont typeface="Arial" panose="020B0604020202020204" pitchFamily="34" charset="0"/>
              <a:buChar char="•"/>
            </a:pPr>
            <a:endParaRPr lang="en-US" altLang="zh-CN" sz="2200" b="1" dirty="0">
              <a:solidFill>
                <a:srgbClr val="24292F"/>
              </a:solidFill>
              <a:latin typeface="Noto Sans SC"/>
            </a:endParaRPr>
          </a:p>
        </p:txBody>
      </p:sp>
    </p:spTree>
    <p:extLst>
      <p:ext uri="{BB962C8B-B14F-4D97-AF65-F5344CB8AC3E}">
        <p14:creationId xmlns:p14="http://schemas.microsoft.com/office/powerpoint/2010/main" val="212965195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280357626"/>
      </p:ext>
    </p:extLst>
  </p:cSld>
  <p:clrMapOvr>
    <a:masterClrMapping/>
  </p:clrMapOvr>
</p:sld>
</file>

<file path=ppt/theme/theme1.xml><?xml version="1.0" encoding="utf-8"?>
<a:theme xmlns:a="http://schemas.openxmlformats.org/drawingml/2006/main" name="回顾">
  <a:themeElements>
    <a:clrScheme name="回顾">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回顾">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回顾">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14459</TotalTime>
  <Words>1448</Words>
  <Application>Microsoft Office PowerPoint</Application>
  <PresentationFormat>Widescreen</PresentationFormat>
  <Paragraphs>115</Paragraphs>
  <Slides>37</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37</vt:i4>
      </vt:variant>
    </vt:vector>
  </HeadingPairs>
  <TitlesOfParts>
    <vt:vector size="44" baseType="lpstr">
      <vt:lpstr>Inter</vt:lpstr>
      <vt:lpstr>Noto Sans SC</vt:lpstr>
      <vt:lpstr>等线</vt:lpstr>
      <vt:lpstr>Arial</vt:lpstr>
      <vt:lpstr>Calibri</vt:lpstr>
      <vt:lpstr>Calibri Light</vt:lpstr>
      <vt:lpstr>回顾</vt:lpstr>
      <vt:lpstr>JavaScript 异步编程</vt:lpstr>
      <vt:lpstr>PowerPoint Presentation</vt:lpstr>
      <vt:lpstr>同步与异步</vt:lpstr>
      <vt:lpstr>同步编程</vt:lpstr>
      <vt:lpstr>异步编程</vt:lpstr>
      <vt:lpstr>异步函数</vt:lpstr>
      <vt:lpstr>PowerPoint Presentation</vt:lpstr>
      <vt:lpstr>回调函数 callback</vt:lpstr>
      <vt:lpstr>setTimeout 函数</vt:lpstr>
      <vt:lpstr>setTimeout 函数 示例1</vt:lpstr>
      <vt:lpstr>setTimeout 函数示例2</vt:lpstr>
      <vt:lpstr>JS异步背后的机制</vt:lpstr>
      <vt:lpstr>JS 是单线程语言</vt:lpstr>
      <vt:lpstr>JS 环境</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如何使用Promise</vt:lpstr>
      <vt:lpstr>Promise </vt:lpstr>
      <vt:lpstr>Promise 三种状态</vt:lpstr>
      <vt:lpstr>PowerPoint Presentation</vt:lpstr>
      <vt:lpstr>promise.then方法</vt:lpstr>
      <vt:lpstr>promise.then方法</vt:lpstr>
      <vt:lpstr>promise.catch方法</vt:lpstr>
      <vt:lpstr>合并使用多个 Promise</vt:lpstr>
      <vt:lpstr>async 和 await</vt:lpstr>
      <vt:lpstr>实现基于 Promise 的 API</vt:lpstr>
      <vt:lpstr>Promise() 构造器</vt:lpstr>
      <vt:lpstr>示例：实现一个闹钟 alarm()</vt:lpstr>
      <vt:lpstr>作业</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Python web开发</dc:title>
  <dc:creator>zhu tao</dc:creator>
  <cp:lastModifiedBy>tao zhu</cp:lastModifiedBy>
  <cp:revision>88</cp:revision>
  <dcterms:created xsi:type="dcterms:W3CDTF">2022-09-12T13:18:11Z</dcterms:created>
  <dcterms:modified xsi:type="dcterms:W3CDTF">2024-09-19T10:10:16Z</dcterms:modified>
</cp:coreProperties>
</file>